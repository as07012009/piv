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11.jpg" ContentType="image/jpe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5" r:id="rId10"/>
    <p:sldId id="266" r:id="rId11"/>
    <p:sldId id="269" r:id="rId12"/>
    <p:sldId id="270" r:id="rId13"/>
    <p:sldId id="271" r:id="rId14"/>
    <p:sldId id="272" r:id="rId15"/>
    <p:sldId id="267"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825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48 часов команда проработала танцующего робота в стиле R2-D2. Покажем, как ограничение по станкам и комплектующим повлияло на механику, как мы генерировали детали программно, что подготовлено для изготовления и что осталось проверить на стенде.</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ТЗ оцениваются движение, блоковый танец на 30–60 секунд, управление по Bluetooth или Wi-Fi и минимум три эмоции. Отдельные баллы даются за законченность корпуса, живую защиту и документацию проекта. ИИ — бонусная часть, а не обязательная функция.</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Персонаж вдохновлён R2-D2. Легенда исходной презентации: он научился двигаться под музыку, пока в ангаре ремонтировали двигатели. В проекте эмоции можно выразить движением корпуса и головы, цветом матрицы и короткими звуками. Пока это схема поведения, а не подтверждённая видеозапись всех режимов.</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Шасси опирается на два ведущих колеса и третью скользящую опору. Ноги отвечают за танец и не несут вес. Корпус фанерный шестигранник. Голова вращается на внутреннем зубчатом венце; обшивка вырезается из плоского оргстекла. Каждый узел параметризован и имеет собственные производственные файлы.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проекте используется набор скриптов Python, генерирующих STEP для сборок и CAD, STL для 3D-печати и DXF для раскроя. Параметры можно менять в коде и повторно строить геометрию. На площадке доступ к станкам по очереди, поэтому у нас была задача не тратить материал на лишние попытки.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Привод выполнен на двух моторах JGA25. Колесо диаметром 65 мм разработано под короткий D-образный выходной вал. Кронштейн сделан тоньше, крепёж утоплен, а стопор спроектирован под доступный саморез. Посадка вала и фактический зазор требуют контрольной примерки перед публичной демонстрацией.</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Вместо шаровой опоры используется простая лыжа из металлического уголка. По пазам можно подстроить высоту, чтобы робот не раскачивался. Декоративные ноги приводят серво MG995, но сами они не несут корпус. Геометрическая модель предусматривает зазор до пола — его нужно перепроверить после сборки.</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передаче принят внутренний зубчатый венец с 77 зубьями и шестерня 14 зубьев на моторе 28BYJ-48. Расчётное отношение 5,5 к одному. Три стальных уголка несут вес короны; центральный штырь в подшипнике 6000 предназначен для позиционирования. Численная модель проверяла зацепление, но фактические скорости и момент зависят от питания, трения и сборки.</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ТЗ нужно 6 и более независимых двигательных блоков для максимальных баллов. Здесь показан базовый набор из пяти. Сюда можно добавить движение назад и поворот по дуге. Дальше — контроллер ESP32 и моторные драйверы. В исходном архиве отсутствовала готовая прошивка, поэтому эта схема — архитектура реализации; успешную работу Bluetooth, танца и эмоций нужно продемонстрировать отдельно.</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На фотографиях — работа с 3D-принтером, ручная подгонка деталей, пайка электронных компонентов и работа в команде. Процесс изготовления шёл параллельно с уточнением размеров CAD. Эти фотографии показывают ход работы, но не являются доказательством полного функционирования готового робота.</a:t>
            </a:r>
          </a:p>
          <a:p>
            <a:endParaRPr/>
          </a:p>
          <a:p>
            <a:r>
              <a:t>Переход к следующему слайду: «А теперь слово нашему электронщику: что уже подготовлено и что осталось запустить».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ПЕРЕДАЧА СЛОВА (ведущий): «А теперь наш электронщик расскажет, что у нас уже подготовлено и что ещё предстоит запустить».</a:t>
            </a:r>
          </a:p>
          <a:p>
            <a:endParaRPr/>
          </a:p>
          <a:p>
            <a:r>
              <a:t>ВЫСТУПЛЕНИЕ ЭЛЕКТРОНЩИКА (примерно 35–45 секунд):</a:t>
            </a:r>
          </a:p>
          <a:p>
            <a:r>
              <a:t>«Мы начали с подготовки электронных узлов и пайки. Уже составили предварительную схему: ESP32 управляет драйверами двух колёс, сервоприводами ног, поворотом головы и индикацией. Также подготовили пример прошивки с Wi-Fi-пультом, отдельными командами движения, танцевальным сценарием и тремя эмоциями. Теперь нам нужно сверить реальные платы и напряжения, собрать безопасное питание и по очереди проверить все приводы. После этого проверим управление со смартфона и танец на 30–60 секунд. Это наш следующий этап: код уже подготовлен, а полноценная работа на собранном роботе ещё требует испытаний».</a:t>
            </a:r>
          </a:p>
          <a:p>
            <a:endParaRPr/>
          </a:p>
          <a:p>
            <a:r>
              <a:t>ВАЖНО: показанные схема и прошивка — проектные материалы; испытания всей аппаратной системы пока не подтверждены. Если к защите будет работающее железо, уточнить слова по фактическому результату.</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ВЫСТУПЛЕНИЕ (25–35 секунд): «Из этого прототипа можно сделать учебный набор, с которым ребёнок своими руками соберёт основные узлы робота. Он увидит, как взаимодействуют колёса, опоры и шестерни, поймёт, зачем нужны точные размеры и почему детали иногда не подходят с первого раза. Здесь важен не только результат: ребёнок учится проверять гипотезы и дорабатывать конструкцию». Это предполагаемый образовательный результат набора, а не результат проведённых испытаний с детьми.</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ВЫСТУПЛЕНИЕ (25–35 секунд): «На следующем этапе ребёнок знакомится с электроникой. Он понимает цепочку: команда со смартфона приходит на контроллер ESP32, тот передаёт сигналы приводам, и робот начинает двигаться. Можно учиться подключать готовые модули по схеме и искать простые ошибки — например, неверный контакт. Для детского набора мы предлагаем безопасные разъёмные соединения. Пайка, аккумуляторы и силовая часть — только под контролем взрослого». Возможности описаны как проект будущего набора, не как результаты тестирования детьми.</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ВЫСТУПЛЕНИЕ (30–40 секунд): «Наконец, ребёнок переходит от сборки к программированию. Он составляет танец из простых блоков: ехать вперёд, повернуться, сделать паузу, пошевелить ногой или показать эмоцию. Потом меняет длительность и скорость, проверяет, что получилось, и исправляет программу. Вместе с техническими навыками развиваются креативность, поиск решений и умение рассказать о своей работе. В результате у ребёнка не просто робот с кнопкой, а собственный маленький инженерный проект». Описание предполагаемого опыта для будущего набора.</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время разработки менялись реальные ограничения. Толщина фанеры оказалась 4 мм, потребовалось пересчитать посадки. Ноги укоротили. Боковины головы вместо чисто клеевого соединения посадили на шипы. Большую корону адаптировали к доступным столам печати. Параметрические модели делают такие итерации дешевле.</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Итого проект содержит шесть основных механических узлов, готовые CAD-сборки, файлы для печати и резки, параметрические скрипты и журнал решений. Это инженерная база прототипа. Для получения баллов за полный танец и эмоции понадобится реальная демонстрация на собранной электронике.</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jpg"/><Relationship Id="rId5" Type="http://schemas.openxmlformats.org/officeDocument/2006/relationships/image" Target="../media/image5.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AD7F9"/>
          </a:solidFill>
          <a:ln w="12700">
            <a:solidFill>
              <a:srgbClr val="3AD7F9"/>
            </a:solidFill>
            <a:prstDash val="solid"/>
          </a:ln>
        </p:spPr>
        <p:txBody>
          <a:bodyPr/>
          <a:lstStyle/>
          <a:p>
            <a:endParaRPr/>
          </a:p>
        </p:txBody>
      </p:sp>
      <p:sp>
        <p:nvSpPr>
          <p:cNvPr id="3" name="Shape 1"/>
          <p:cNvSpPr/>
          <p:nvPr/>
        </p:nvSpPr>
        <p:spPr>
          <a:xfrm>
            <a:off x="7040880" y="-1234440"/>
            <a:ext cx="6400800" cy="6400800"/>
          </a:xfrm>
          <a:prstGeom prst="ellipse">
            <a:avLst/>
          </a:prstGeom>
          <a:solidFill>
            <a:srgbClr val="103A5E"/>
          </a:solidFill>
          <a:ln w="12700">
            <a:solidFill>
              <a:srgbClr val="103A5E"/>
            </a:solidFill>
            <a:prstDash val="solid"/>
          </a:ln>
        </p:spPr>
        <p:txBody>
          <a:bodyPr/>
          <a:lstStyle/>
          <a:p>
            <a:endParaRPr/>
          </a:p>
        </p:txBody>
      </p:sp>
      <p:sp>
        <p:nvSpPr>
          <p:cNvPr id="4" name="Text 2"/>
          <p:cNvSpPr/>
          <p:nvPr/>
        </p:nvSpPr>
        <p:spPr>
          <a:xfrm>
            <a:off x="566928" y="603504"/>
            <a:ext cx="612648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ПЕРВЫЙ ИНЖЕНЕРНЫЙ ВЫЕЗД / 2026</a:t>
            </a:r>
            <a:endParaRPr lang="en-US" sz="900" dirty="0"/>
          </a:p>
        </p:txBody>
      </p:sp>
      <p:sp>
        <p:nvSpPr>
          <p:cNvPr id="5" name="Text 3"/>
          <p:cNvSpPr/>
          <p:nvPr/>
        </p:nvSpPr>
        <p:spPr>
          <a:xfrm>
            <a:off x="539496" y="1417320"/>
            <a:ext cx="5669280" cy="960120"/>
          </a:xfrm>
          <a:prstGeom prst="rect">
            <a:avLst/>
          </a:prstGeom>
          <a:noFill/>
          <a:ln/>
        </p:spPr>
        <p:txBody>
          <a:bodyPr wrap="square" lIns="0" tIns="0" rIns="0" bIns="0" rtlCol="0" anchor="ctr">
            <a:normAutofit/>
          </a:bodyPr>
          <a:lstStyle/>
          <a:p>
            <a:pPr marL="0" indent="0">
              <a:lnSpc>
                <a:spcPct val="105000"/>
              </a:lnSpc>
              <a:buNone/>
            </a:pPr>
            <a:r>
              <a:rPr lang="en-US" sz="6600" b="1" dirty="0">
                <a:solidFill>
                  <a:srgbClr val="F6FAFD"/>
                </a:solidFill>
                <a:latin typeface="Inter Display" pitchFamily="34" charset="0"/>
                <a:ea typeface="Inter Display" pitchFamily="34" charset="-122"/>
                <a:cs typeface="Inter Display" pitchFamily="34" charset="-120"/>
              </a:rPr>
              <a:t>R2-D2</a:t>
            </a:r>
            <a:endParaRPr lang="en-US" sz="6600" dirty="0"/>
          </a:p>
        </p:txBody>
      </p:sp>
      <p:sp>
        <p:nvSpPr>
          <p:cNvPr id="6" name="Text 4"/>
          <p:cNvSpPr/>
          <p:nvPr/>
        </p:nvSpPr>
        <p:spPr>
          <a:xfrm>
            <a:off x="566928" y="2532888"/>
            <a:ext cx="5943600" cy="118872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3AD7F9"/>
                </a:solidFill>
                <a:latin typeface="Inter Display" pitchFamily="34" charset="0"/>
                <a:ea typeface="Inter Display" pitchFamily="34" charset="-122"/>
                <a:cs typeface="Inter Display" pitchFamily="34" charset="-120"/>
              </a:rPr>
              <a:t>Танцующий робот</a:t>
            </a:r>
            <a:endParaRPr lang="en-US" sz="3100" dirty="0"/>
          </a:p>
          <a:p>
            <a:pPr marL="0" indent="0">
              <a:lnSpc>
                <a:spcPct val="105000"/>
              </a:lnSpc>
              <a:buNone/>
            </a:pPr>
            <a:r>
              <a:rPr lang="en-US" sz="3100" b="1" dirty="0">
                <a:solidFill>
                  <a:srgbClr val="3AD7F9"/>
                </a:solidFill>
                <a:latin typeface="Inter Display" pitchFamily="34" charset="0"/>
                <a:ea typeface="Inter Display" pitchFamily="34" charset="-122"/>
                <a:cs typeface="Inter Display" pitchFamily="34" charset="-120"/>
              </a:rPr>
              <a:t>за 48 часов</a:t>
            </a:r>
            <a:endParaRPr lang="en-US" sz="3100" dirty="0"/>
          </a:p>
        </p:txBody>
      </p:sp>
      <p:sp>
        <p:nvSpPr>
          <p:cNvPr id="7" name="Shape 5"/>
          <p:cNvSpPr/>
          <p:nvPr/>
        </p:nvSpPr>
        <p:spPr>
          <a:xfrm>
            <a:off x="576072" y="4114800"/>
            <a:ext cx="5303520" cy="0"/>
          </a:xfrm>
          <a:prstGeom prst="line">
            <a:avLst/>
          </a:prstGeom>
          <a:noFill/>
          <a:ln w="12700">
            <a:solidFill>
              <a:srgbClr val="2A516A"/>
            </a:solidFill>
            <a:prstDash val="solid"/>
          </a:ln>
        </p:spPr>
        <p:txBody>
          <a:bodyPr/>
          <a:lstStyle/>
          <a:p>
            <a:endParaRPr/>
          </a:p>
        </p:txBody>
      </p:sp>
      <p:sp>
        <p:nvSpPr>
          <p:cNvPr id="8" name="Text 6"/>
          <p:cNvSpPr/>
          <p:nvPr/>
        </p:nvSpPr>
        <p:spPr>
          <a:xfrm>
            <a:off x="576072" y="4288536"/>
            <a:ext cx="5394960" cy="402336"/>
          </a:xfrm>
          <a:prstGeom prst="rect">
            <a:avLst/>
          </a:prstGeom>
          <a:noFill/>
          <a:ln/>
        </p:spPr>
        <p:txBody>
          <a:bodyPr wrap="square" lIns="0" tIns="0" rIns="0" bIns="0" rtlCol="0" anchor="ctr">
            <a:normAutofit/>
          </a:bodyPr>
          <a:lstStyle/>
          <a:p>
            <a:pPr marL="0" indent="0">
              <a:lnSpc>
                <a:spcPct val="105000"/>
              </a:lnSpc>
              <a:buNone/>
            </a:pPr>
            <a:r>
              <a:rPr lang="en-US" sz="1500" b="1" dirty="0">
                <a:solidFill>
                  <a:srgbClr val="F6FAFD"/>
                </a:solidFill>
                <a:latin typeface="Inter" pitchFamily="34" charset="0"/>
                <a:ea typeface="Inter" pitchFamily="34" charset="-122"/>
                <a:cs typeface="Inter" pitchFamily="34" charset="-120"/>
              </a:rPr>
              <a:t>Команда 5  •  МГТУ им. Н. Э. Баумана</a:t>
            </a:r>
            <a:endParaRPr lang="en-US" sz="1500" dirty="0"/>
          </a:p>
        </p:txBody>
      </p:sp>
      <p:sp>
        <p:nvSpPr>
          <p:cNvPr id="9" name="Text 7"/>
          <p:cNvSpPr/>
          <p:nvPr/>
        </p:nvSpPr>
        <p:spPr>
          <a:xfrm>
            <a:off x="576072" y="4818888"/>
            <a:ext cx="5486400" cy="32918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CAD  /  3D-печать  /  электроника  /  механика</a:t>
            </a:r>
            <a:endParaRPr lang="en-US" sz="1200" dirty="0"/>
          </a:p>
        </p:txBody>
      </p:sp>
      <p:sp>
        <p:nvSpPr>
          <p:cNvPr id="10" name="Shape 8"/>
          <p:cNvSpPr/>
          <p:nvPr/>
        </p:nvSpPr>
        <p:spPr>
          <a:xfrm>
            <a:off x="576072" y="5815584"/>
            <a:ext cx="2468880" cy="310896"/>
          </a:xfrm>
          <a:prstGeom prst="roundRect">
            <a:avLst>
              <a:gd name="adj" fmla="val 47059"/>
            </a:avLst>
          </a:prstGeom>
          <a:solidFill>
            <a:srgbClr val="0C2538"/>
          </a:solidFill>
          <a:ln w="12700">
            <a:solidFill>
              <a:srgbClr val="3AD7F9"/>
            </a:solidFill>
            <a:prstDash val="solid"/>
          </a:ln>
        </p:spPr>
        <p:txBody>
          <a:bodyPr/>
          <a:lstStyle/>
          <a:p>
            <a:endParaRPr/>
          </a:p>
        </p:txBody>
      </p:sp>
      <p:sp>
        <p:nvSpPr>
          <p:cNvPr id="11" name="Text 9"/>
          <p:cNvSpPr/>
          <p:nvPr/>
        </p:nvSpPr>
        <p:spPr>
          <a:xfrm>
            <a:off x="685800" y="5833872"/>
            <a:ext cx="2249424" cy="256032"/>
          </a:xfrm>
          <a:prstGeom prst="rect">
            <a:avLst/>
          </a:prstGeom>
          <a:noFill/>
          <a:ln/>
        </p:spPr>
        <p:txBody>
          <a:bodyPr wrap="square" lIns="0" tIns="0" rIns="0" bIns="0" rtlCol="0" anchor="ctr">
            <a:normAutofit/>
          </a:bodyPr>
          <a:lstStyle/>
          <a:p>
            <a:pPr marL="0" indent="0">
              <a:lnSpc>
                <a:spcPct val="105000"/>
              </a:lnSpc>
              <a:buNone/>
            </a:pPr>
            <a:r>
              <a:rPr lang="en-US" sz="1000" b="1" dirty="0">
                <a:solidFill>
                  <a:srgbClr val="3AD7F9"/>
                </a:solidFill>
                <a:latin typeface="Inter" pitchFamily="34" charset="0"/>
                <a:ea typeface="Inter" pitchFamily="34" charset="-122"/>
                <a:cs typeface="Inter" pitchFamily="34" charset="-120"/>
              </a:rPr>
              <a:t>ПРОЕКТ И ПРОТОТИП</a:t>
            </a:r>
            <a:endParaRPr lang="en-US" sz="1000" dirty="0"/>
          </a:p>
        </p:txBody>
      </p:sp>
      <p:sp>
        <p:nvSpPr>
          <p:cNvPr id="12" name="Shape 10"/>
          <p:cNvSpPr/>
          <p:nvPr/>
        </p:nvSpPr>
        <p:spPr>
          <a:xfrm>
            <a:off x="7498080" y="841248"/>
            <a:ext cx="3895344" cy="4526280"/>
          </a:xfrm>
          <a:prstGeom prst="roundRect">
            <a:avLst>
              <a:gd name="adj" fmla="val 2817"/>
            </a:avLst>
          </a:prstGeom>
          <a:solidFill>
            <a:srgbClr val="F6FAFD"/>
          </a:solidFill>
          <a:ln w="12700">
            <a:solidFill>
              <a:srgbClr val="F6FAFD"/>
            </a:solidFill>
            <a:prstDash val="solid"/>
          </a:ln>
        </p:spPr>
        <p:txBody>
          <a:bodyPr/>
          <a:lstStyle/>
          <a:p>
            <a:endParaRPr/>
          </a:p>
        </p:txBody>
      </p:sp>
      <p:pic>
        <p:nvPicPr>
          <p:cNvPr id="13" name="Image 0" descr="/mnt/data/work_r2/R2D2-PIV/img/head_r3_shell_assembled.png"/>
          <p:cNvPicPr>
            <a:picLocks noChangeAspect="1"/>
          </p:cNvPicPr>
          <p:nvPr/>
        </p:nvPicPr>
        <p:blipFill>
          <a:blip r:embed="rId3"/>
          <a:stretch>
            <a:fillRect/>
          </a:stretch>
        </p:blipFill>
        <p:spPr>
          <a:xfrm>
            <a:off x="7498598" y="841248"/>
            <a:ext cx="3894309" cy="4526280"/>
          </a:xfrm>
          <a:prstGeom prst="rect">
            <a:avLst/>
          </a:prstGeom>
        </p:spPr>
      </p:pic>
      <p:sp>
        <p:nvSpPr>
          <p:cNvPr id="15" name="Text 11"/>
          <p:cNvSpPr/>
          <p:nvPr/>
        </p:nvSpPr>
        <p:spPr>
          <a:xfrm>
            <a:off x="6601968" y="5413248"/>
            <a:ext cx="2057400" cy="804672"/>
          </a:xfrm>
          <a:prstGeom prst="rect">
            <a:avLst/>
          </a:prstGeom>
          <a:noFill/>
          <a:ln/>
        </p:spPr>
        <p:txBody>
          <a:bodyPr wrap="square" lIns="0" tIns="0" rIns="0" bIns="0" rtlCol="0" anchor="ctr">
            <a:normAutofit/>
          </a:bodyPr>
          <a:lstStyle/>
          <a:p>
            <a:pPr marL="0" indent="0">
              <a:lnSpc>
                <a:spcPct val="105000"/>
              </a:lnSpc>
              <a:buNone/>
            </a:pPr>
            <a:r>
              <a:rPr lang="en-US" sz="5800" b="1" dirty="0">
                <a:solidFill>
                  <a:srgbClr val="109BD9"/>
                </a:solidFill>
                <a:latin typeface="Inter Display" pitchFamily="34" charset="0"/>
                <a:ea typeface="Inter Display" pitchFamily="34" charset="-122"/>
                <a:cs typeface="Inter Display" pitchFamily="34" charset="-120"/>
              </a:rPr>
              <a:t>01</a:t>
            </a:r>
            <a:endParaRPr lang="en-US" sz="5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Нужно не просто собрать робота</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По ТЗ — самостоятельный выход, танец, эмоции и управление со смартфона.</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ЗАДАНИЕ</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02 / 17</a:t>
            </a:r>
          </a:p>
        </p:txBody>
      </p:sp>
      <p:sp>
        <p:nvSpPr>
          <p:cNvPr id="9" name="Shape 7"/>
          <p:cNvSpPr/>
          <p:nvPr/>
        </p:nvSpPr>
        <p:spPr>
          <a:xfrm>
            <a:off x="484632" y="1874520"/>
            <a:ext cx="5376672" cy="1719072"/>
          </a:xfrm>
          <a:prstGeom prst="roundRect">
            <a:avLst>
              <a:gd name="adj" fmla="val 7447"/>
            </a:avLst>
          </a:prstGeom>
          <a:solidFill>
            <a:srgbClr val="122D44"/>
          </a:solidFill>
          <a:ln w="12700">
            <a:solidFill>
              <a:srgbClr val="2A516A"/>
            </a:solidFill>
            <a:prstDash val="solid"/>
          </a:ln>
        </p:spPr>
        <p:txBody>
          <a:bodyPr/>
          <a:lstStyle/>
          <a:p>
            <a:endParaRPr/>
          </a:p>
        </p:txBody>
      </p:sp>
      <p:sp>
        <p:nvSpPr>
          <p:cNvPr id="10" name="Text 8"/>
          <p:cNvSpPr/>
          <p:nvPr/>
        </p:nvSpPr>
        <p:spPr>
          <a:xfrm>
            <a:off x="713232" y="2057400"/>
            <a:ext cx="1956816" cy="603504"/>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3AD7F9"/>
                </a:solidFill>
                <a:latin typeface="Inter" pitchFamily="34" charset="0"/>
                <a:ea typeface="Inter" pitchFamily="34" charset="-122"/>
                <a:cs typeface="Inter" pitchFamily="34" charset="-120"/>
              </a:rPr>
              <a:t>30–60 с</a:t>
            </a:r>
            <a:endParaRPr lang="en-US" sz="3100" dirty="0"/>
          </a:p>
        </p:txBody>
      </p:sp>
      <p:sp>
        <p:nvSpPr>
          <p:cNvPr id="11" name="Text 9"/>
          <p:cNvSpPr/>
          <p:nvPr/>
        </p:nvSpPr>
        <p:spPr>
          <a:xfrm>
            <a:off x="2697480" y="2048256"/>
            <a:ext cx="2852928" cy="1143000"/>
          </a:xfrm>
          <a:prstGeom prst="rect">
            <a:avLst/>
          </a:prstGeom>
          <a:noFill/>
          <a:ln/>
        </p:spPr>
        <p:txBody>
          <a:bodyPr wrap="square" lIns="0" tIns="0" rIns="0" bIns="0" rtlCol="0" anchor="ctr">
            <a:normAutofit/>
          </a:bodyPr>
          <a:lstStyle/>
          <a:p>
            <a:pPr marL="0" indent="0">
              <a:lnSpc>
                <a:spcPct val="105000"/>
              </a:lnSpc>
              <a:buNone/>
            </a:pPr>
            <a:r>
              <a:rPr lang="en-US" sz="1700" dirty="0">
                <a:solidFill>
                  <a:srgbClr val="F6FAFD"/>
                </a:solidFill>
                <a:latin typeface="Inter" pitchFamily="34" charset="0"/>
                <a:ea typeface="Inter" pitchFamily="34" charset="-122"/>
                <a:cs typeface="Inter" pitchFamily="34" charset="-120"/>
              </a:rPr>
              <a:t>танец из независимых</a:t>
            </a:r>
            <a:endParaRPr lang="en-US" sz="1700" dirty="0"/>
          </a:p>
          <a:p>
            <a:pPr marL="0" indent="0">
              <a:lnSpc>
                <a:spcPct val="105000"/>
              </a:lnSpc>
              <a:buNone/>
            </a:pPr>
            <a:r>
              <a:rPr lang="en-US" sz="1700" dirty="0">
                <a:solidFill>
                  <a:srgbClr val="F6FAFD"/>
                </a:solidFill>
                <a:latin typeface="Inter" pitchFamily="34" charset="0"/>
                <a:ea typeface="Inter" pitchFamily="34" charset="-122"/>
                <a:cs typeface="Inter" pitchFamily="34" charset="-120"/>
              </a:rPr>
              <a:t>блоков движений</a:t>
            </a:r>
            <a:endParaRPr lang="en-US" sz="1700" dirty="0"/>
          </a:p>
        </p:txBody>
      </p:sp>
      <p:sp>
        <p:nvSpPr>
          <p:cNvPr id="12" name="Shape 10"/>
          <p:cNvSpPr/>
          <p:nvPr/>
        </p:nvSpPr>
        <p:spPr>
          <a:xfrm>
            <a:off x="6135624" y="1874520"/>
            <a:ext cx="5376672" cy="1719072"/>
          </a:xfrm>
          <a:prstGeom prst="roundRect">
            <a:avLst>
              <a:gd name="adj" fmla="val 7447"/>
            </a:avLst>
          </a:prstGeom>
          <a:solidFill>
            <a:srgbClr val="122D44"/>
          </a:solidFill>
          <a:ln w="12700">
            <a:solidFill>
              <a:srgbClr val="2A516A"/>
            </a:solidFill>
            <a:prstDash val="solid"/>
          </a:ln>
        </p:spPr>
        <p:txBody>
          <a:bodyPr/>
          <a:lstStyle/>
          <a:p>
            <a:endParaRPr/>
          </a:p>
        </p:txBody>
      </p:sp>
      <p:sp>
        <p:nvSpPr>
          <p:cNvPr id="13" name="Text 11"/>
          <p:cNvSpPr/>
          <p:nvPr/>
        </p:nvSpPr>
        <p:spPr>
          <a:xfrm>
            <a:off x="6364224" y="2057400"/>
            <a:ext cx="1956816" cy="603504"/>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3AD7F9"/>
                </a:solidFill>
                <a:latin typeface="Inter" pitchFamily="34" charset="0"/>
                <a:ea typeface="Inter" pitchFamily="34" charset="-122"/>
                <a:cs typeface="Inter" pitchFamily="34" charset="-120"/>
              </a:rPr>
              <a:t>≥ 3</a:t>
            </a:r>
            <a:endParaRPr lang="en-US" sz="3100" dirty="0"/>
          </a:p>
        </p:txBody>
      </p:sp>
      <p:sp>
        <p:nvSpPr>
          <p:cNvPr id="14" name="Text 12"/>
          <p:cNvSpPr/>
          <p:nvPr/>
        </p:nvSpPr>
        <p:spPr>
          <a:xfrm>
            <a:off x="8348472" y="2048256"/>
            <a:ext cx="2852928" cy="1143000"/>
          </a:xfrm>
          <a:prstGeom prst="rect">
            <a:avLst/>
          </a:prstGeom>
          <a:noFill/>
          <a:ln/>
        </p:spPr>
        <p:txBody>
          <a:bodyPr wrap="square" lIns="0" tIns="0" rIns="0" bIns="0" rtlCol="0" anchor="ctr">
            <a:normAutofit/>
          </a:bodyPr>
          <a:lstStyle/>
          <a:p>
            <a:pPr marL="0" indent="0">
              <a:lnSpc>
                <a:spcPct val="105000"/>
              </a:lnSpc>
              <a:buNone/>
            </a:pPr>
            <a:r>
              <a:rPr lang="en-US" sz="1700" dirty="0">
                <a:solidFill>
                  <a:srgbClr val="F6FAFD"/>
                </a:solidFill>
                <a:latin typeface="Inter" pitchFamily="34" charset="0"/>
                <a:ea typeface="Inter" pitchFamily="34" charset="-122"/>
                <a:cs typeface="Inter" pitchFamily="34" charset="-120"/>
              </a:rPr>
              <a:t>узнаваемые эмоции</a:t>
            </a:r>
            <a:endParaRPr lang="en-US" sz="1700" dirty="0"/>
          </a:p>
          <a:p>
            <a:pPr marL="0" indent="0">
              <a:lnSpc>
                <a:spcPct val="105000"/>
              </a:lnSpc>
              <a:buNone/>
            </a:pPr>
            <a:r>
              <a:rPr lang="en-US" sz="1700" dirty="0">
                <a:solidFill>
                  <a:srgbClr val="F6FAFD"/>
                </a:solidFill>
                <a:latin typeface="Inter" pitchFamily="34" charset="0"/>
                <a:ea typeface="Inter" pitchFamily="34" charset="-122"/>
                <a:cs typeface="Inter" pitchFamily="34" charset="-120"/>
              </a:rPr>
              <a:t>через движение / свет / звук</a:t>
            </a:r>
            <a:endParaRPr lang="en-US" sz="1700" dirty="0"/>
          </a:p>
        </p:txBody>
      </p:sp>
      <p:sp>
        <p:nvSpPr>
          <p:cNvPr id="15" name="Shape 13"/>
          <p:cNvSpPr/>
          <p:nvPr/>
        </p:nvSpPr>
        <p:spPr>
          <a:xfrm>
            <a:off x="484632" y="3867912"/>
            <a:ext cx="5376672" cy="1719072"/>
          </a:xfrm>
          <a:prstGeom prst="roundRect">
            <a:avLst>
              <a:gd name="adj" fmla="val 7447"/>
            </a:avLst>
          </a:prstGeom>
          <a:solidFill>
            <a:srgbClr val="122D44"/>
          </a:solidFill>
          <a:ln w="12700">
            <a:solidFill>
              <a:srgbClr val="2A516A"/>
            </a:solidFill>
            <a:prstDash val="solid"/>
          </a:ln>
        </p:spPr>
        <p:txBody>
          <a:bodyPr/>
          <a:lstStyle/>
          <a:p>
            <a:endParaRPr/>
          </a:p>
        </p:txBody>
      </p:sp>
      <p:sp>
        <p:nvSpPr>
          <p:cNvPr id="16" name="Text 14"/>
          <p:cNvSpPr/>
          <p:nvPr/>
        </p:nvSpPr>
        <p:spPr>
          <a:xfrm>
            <a:off x="713232" y="4050792"/>
            <a:ext cx="1956816" cy="603504"/>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3AD7F9"/>
                </a:solidFill>
                <a:latin typeface="Inter" pitchFamily="34" charset="0"/>
                <a:ea typeface="Inter" pitchFamily="34" charset="-122"/>
                <a:cs typeface="Inter" pitchFamily="34" charset="-120"/>
              </a:rPr>
              <a:t>BT / Wi-Fi</a:t>
            </a:r>
            <a:endParaRPr lang="en-US" sz="3100" dirty="0"/>
          </a:p>
        </p:txBody>
      </p:sp>
      <p:sp>
        <p:nvSpPr>
          <p:cNvPr id="17" name="Text 15"/>
          <p:cNvSpPr/>
          <p:nvPr/>
        </p:nvSpPr>
        <p:spPr>
          <a:xfrm>
            <a:off x="2697480" y="4041648"/>
            <a:ext cx="2852928" cy="1143000"/>
          </a:xfrm>
          <a:prstGeom prst="rect">
            <a:avLst/>
          </a:prstGeom>
          <a:noFill/>
          <a:ln/>
        </p:spPr>
        <p:txBody>
          <a:bodyPr wrap="square" lIns="0" tIns="0" rIns="0" bIns="0" rtlCol="0" anchor="ctr">
            <a:normAutofit/>
          </a:bodyPr>
          <a:lstStyle/>
          <a:p>
            <a:pPr marL="0" indent="0">
              <a:lnSpc>
                <a:spcPct val="105000"/>
              </a:lnSpc>
              <a:buNone/>
            </a:pPr>
            <a:r>
              <a:rPr lang="en-US" sz="1700" dirty="0">
                <a:solidFill>
                  <a:srgbClr val="F6FAFD"/>
                </a:solidFill>
                <a:latin typeface="Inter" pitchFamily="34" charset="0"/>
                <a:ea typeface="Inter" pitchFamily="34" charset="-122"/>
                <a:cs typeface="Inter" pitchFamily="34" charset="-120"/>
              </a:rPr>
              <a:t>команды со смартфона:</a:t>
            </a:r>
            <a:endParaRPr lang="en-US" sz="1700" dirty="0"/>
          </a:p>
          <a:p>
            <a:pPr marL="0" indent="0">
              <a:lnSpc>
                <a:spcPct val="105000"/>
              </a:lnSpc>
              <a:buNone/>
            </a:pPr>
            <a:r>
              <a:rPr lang="en-US" sz="1700" dirty="0">
                <a:solidFill>
                  <a:srgbClr val="F6FAFD"/>
                </a:solidFill>
                <a:latin typeface="Inter" pitchFamily="34" charset="0"/>
                <a:ea typeface="Inter" pitchFamily="34" charset="-122"/>
                <a:cs typeface="Inter" pitchFamily="34" charset="-120"/>
              </a:rPr>
              <a:t>движение, старт, стоп</a:t>
            </a:r>
            <a:endParaRPr lang="en-US" sz="1700" dirty="0"/>
          </a:p>
        </p:txBody>
      </p:sp>
      <p:sp>
        <p:nvSpPr>
          <p:cNvPr id="18" name="Shape 16"/>
          <p:cNvSpPr/>
          <p:nvPr/>
        </p:nvSpPr>
        <p:spPr>
          <a:xfrm>
            <a:off x="6135624" y="3867912"/>
            <a:ext cx="5376672" cy="1719072"/>
          </a:xfrm>
          <a:prstGeom prst="roundRect">
            <a:avLst>
              <a:gd name="adj" fmla="val 7447"/>
            </a:avLst>
          </a:prstGeom>
          <a:solidFill>
            <a:srgbClr val="122D44"/>
          </a:solidFill>
          <a:ln w="12700">
            <a:solidFill>
              <a:srgbClr val="2A516A"/>
            </a:solidFill>
            <a:prstDash val="solid"/>
          </a:ln>
        </p:spPr>
        <p:txBody>
          <a:bodyPr/>
          <a:lstStyle/>
          <a:p>
            <a:endParaRPr/>
          </a:p>
        </p:txBody>
      </p:sp>
      <p:sp>
        <p:nvSpPr>
          <p:cNvPr id="19" name="Text 17"/>
          <p:cNvSpPr/>
          <p:nvPr/>
        </p:nvSpPr>
        <p:spPr>
          <a:xfrm>
            <a:off x="6364224" y="4050792"/>
            <a:ext cx="1956816" cy="603504"/>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3AD7F9"/>
                </a:solidFill>
                <a:latin typeface="Inter" pitchFamily="34" charset="0"/>
                <a:ea typeface="Inter" pitchFamily="34" charset="-122"/>
                <a:cs typeface="Inter" pitchFamily="34" charset="-120"/>
              </a:rPr>
              <a:t>Автономно</a:t>
            </a:r>
            <a:endParaRPr lang="en-US" sz="3100" dirty="0"/>
          </a:p>
        </p:txBody>
      </p:sp>
      <p:sp>
        <p:nvSpPr>
          <p:cNvPr id="20" name="Text 18"/>
          <p:cNvSpPr/>
          <p:nvPr/>
        </p:nvSpPr>
        <p:spPr>
          <a:xfrm>
            <a:off x="8348472" y="4041648"/>
            <a:ext cx="2852928" cy="1143000"/>
          </a:xfrm>
          <a:prstGeom prst="rect">
            <a:avLst/>
          </a:prstGeom>
          <a:noFill/>
          <a:ln/>
        </p:spPr>
        <p:txBody>
          <a:bodyPr wrap="square" lIns="0" tIns="0" rIns="0" bIns="0" rtlCol="0" anchor="ctr">
            <a:normAutofit/>
          </a:bodyPr>
          <a:lstStyle/>
          <a:p>
            <a:pPr marL="0" indent="0">
              <a:lnSpc>
                <a:spcPct val="105000"/>
              </a:lnSpc>
              <a:buNone/>
            </a:pPr>
            <a:r>
              <a:rPr lang="en-US" sz="1700" dirty="0">
                <a:solidFill>
                  <a:srgbClr val="F6FAFD"/>
                </a:solidFill>
                <a:latin typeface="Inter" pitchFamily="34" charset="0"/>
                <a:ea typeface="Inter" pitchFamily="34" charset="-122"/>
                <a:cs typeface="Inter" pitchFamily="34" charset="-120"/>
              </a:rPr>
              <a:t>без сетевого кабеля</a:t>
            </a:r>
            <a:endParaRPr lang="en-US" sz="1700" dirty="0"/>
          </a:p>
          <a:p>
            <a:pPr marL="0" indent="0">
              <a:lnSpc>
                <a:spcPct val="105000"/>
              </a:lnSpc>
              <a:buNone/>
            </a:pPr>
            <a:r>
              <a:rPr lang="en-US" sz="1700" dirty="0">
                <a:solidFill>
                  <a:srgbClr val="F6FAFD"/>
                </a:solidFill>
                <a:latin typeface="Inter" pitchFamily="34" charset="0"/>
                <a:ea typeface="Inter" pitchFamily="34" charset="-122"/>
                <a:cs typeface="Inter" pitchFamily="34" charset="-120"/>
              </a:rPr>
              <a:t>во время выступления</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У робота должен быть характер</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Вдохновение — знакомый R2-D2: маленький, упрямый и любопытный.</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КОНЦЕПЦИЯ</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03 / 17</a:t>
            </a:r>
          </a:p>
        </p:txBody>
      </p:sp>
      <p:sp>
        <p:nvSpPr>
          <p:cNvPr id="9" name="Shape 7"/>
          <p:cNvSpPr/>
          <p:nvPr/>
        </p:nvSpPr>
        <p:spPr>
          <a:xfrm>
            <a:off x="548640" y="1828800"/>
            <a:ext cx="4572000" cy="4370832"/>
          </a:xfrm>
          <a:prstGeom prst="roundRect">
            <a:avLst>
              <a:gd name="adj" fmla="val 2510"/>
            </a:avLst>
          </a:prstGeom>
          <a:solidFill>
            <a:srgbClr val="F6FAFD"/>
          </a:solidFill>
          <a:ln w="12700">
            <a:solidFill>
              <a:srgbClr val="F6FAFD"/>
            </a:solidFill>
            <a:prstDash val="solid"/>
          </a:ln>
        </p:spPr>
        <p:txBody>
          <a:bodyPr/>
          <a:lstStyle/>
          <a:p>
            <a:endParaRPr/>
          </a:p>
        </p:txBody>
      </p:sp>
      <p:pic>
        <p:nvPicPr>
          <p:cNvPr id="10" name="Image 0" descr="/mnt/data/work_r2/R2D2-PIV/img/head_r3_shell_assembled.png"/>
          <p:cNvPicPr>
            <a:picLocks noChangeAspect="1"/>
          </p:cNvPicPr>
          <p:nvPr/>
        </p:nvPicPr>
        <p:blipFill>
          <a:blip r:embed="rId3"/>
          <a:stretch>
            <a:fillRect/>
          </a:stretch>
        </p:blipFill>
        <p:spPr>
          <a:xfrm>
            <a:off x="954358" y="1828800"/>
            <a:ext cx="3760565" cy="4370832"/>
          </a:xfrm>
          <a:prstGeom prst="rect">
            <a:avLst/>
          </a:prstGeom>
        </p:spPr>
      </p:pic>
      <p:sp>
        <p:nvSpPr>
          <p:cNvPr id="11" name="Shape 8"/>
          <p:cNvSpPr/>
          <p:nvPr/>
        </p:nvSpPr>
        <p:spPr>
          <a:xfrm>
            <a:off x="5404104" y="1856232"/>
            <a:ext cx="618134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12" name="Text 9"/>
          <p:cNvSpPr/>
          <p:nvPr/>
        </p:nvSpPr>
        <p:spPr>
          <a:xfrm>
            <a:off x="5660136" y="2039112"/>
            <a:ext cx="457200" cy="640080"/>
          </a:xfrm>
          <a:prstGeom prst="rect">
            <a:avLst/>
          </a:prstGeom>
          <a:noFill/>
          <a:ln/>
        </p:spPr>
        <p:txBody>
          <a:bodyPr wrap="square" lIns="0" tIns="0" rIns="0" bIns="0" rtlCol="0" anchor="ctr">
            <a:normAutofit/>
          </a:bodyPr>
          <a:lstStyle/>
          <a:p>
            <a:pPr marL="0" indent="0">
              <a:lnSpc>
                <a:spcPct val="105000"/>
              </a:lnSpc>
              <a:buNone/>
            </a:pPr>
            <a:r>
              <a:rPr lang="en-US" sz="2600" b="1" dirty="0">
                <a:solidFill>
                  <a:srgbClr val="3AD7F9"/>
                </a:solidFill>
                <a:latin typeface="Inter" pitchFamily="34" charset="0"/>
                <a:ea typeface="Inter" pitchFamily="34" charset="-122"/>
                <a:cs typeface="Inter" pitchFamily="34" charset="-120"/>
              </a:rPr>
              <a:t>01</a:t>
            </a:r>
            <a:endParaRPr lang="en-US" sz="2600" dirty="0"/>
          </a:p>
        </p:txBody>
      </p:sp>
      <p:sp>
        <p:nvSpPr>
          <p:cNvPr id="13" name="Text 10"/>
          <p:cNvSpPr/>
          <p:nvPr/>
        </p:nvSpPr>
        <p:spPr>
          <a:xfrm>
            <a:off x="6263640" y="1947672"/>
            <a:ext cx="1874520" cy="457200"/>
          </a:xfrm>
          <a:prstGeom prst="rect">
            <a:avLst/>
          </a:prstGeom>
          <a:noFill/>
          <a:ln/>
        </p:spPr>
        <p:txBody>
          <a:bodyPr wrap="square" lIns="0" tIns="0" rIns="0" bIns="0" rtlCol="0" anchor="ctr">
            <a:normAutofit/>
          </a:bodyPr>
          <a:lstStyle/>
          <a:p>
            <a:pPr marL="0" indent="0">
              <a:lnSpc>
                <a:spcPct val="105000"/>
              </a:lnSpc>
              <a:buNone/>
            </a:pPr>
            <a:r>
              <a:rPr lang="en-US" sz="1600" b="1" dirty="0">
                <a:solidFill>
                  <a:srgbClr val="F6FAFD"/>
                </a:solidFill>
                <a:latin typeface="Inter" pitchFamily="34" charset="0"/>
                <a:ea typeface="Inter" pitchFamily="34" charset="-122"/>
                <a:cs typeface="Inter" pitchFamily="34" charset="-120"/>
              </a:rPr>
              <a:t>РАДОСТЬ</a:t>
            </a:r>
            <a:endParaRPr lang="en-US" sz="1600" dirty="0"/>
          </a:p>
        </p:txBody>
      </p:sp>
      <p:sp>
        <p:nvSpPr>
          <p:cNvPr id="14" name="Text 11"/>
          <p:cNvSpPr/>
          <p:nvPr/>
        </p:nvSpPr>
        <p:spPr>
          <a:xfrm>
            <a:off x="8229600" y="1901952"/>
            <a:ext cx="3090672" cy="86868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быстрый поворот,</a:t>
            </a:r>
            <a:endParaRPr lang="en-US" sz="1400" dirty="0"/>
          </a:p>
          <a:p>
            <a:pPr marL="0" indent="0">
              <a:lnSpc>
                <a:spcPct val="105000"/>
              </a:lnSpc>
              <a:buNone/>
            </a:pPr>
            <a:r>
              <a:rPr lang="en-US" sz="1400" dirty="0">
                <a:solidFill>
                  <a:srgbClr val="AFC6D8"/>
                </a:solidFill>
                <a:latin typeface="Inter" pitchFamily="34" charset="0"/>
                <a:ea typeface="Inter" pitchFamily="34" charset="-122"/>
                <a:cs typeface="Inter" pitchFamily="34" charset="-120"/>
              </a:rPr>
              <a:t>движение вперёд</a:t>
            </a:r>
            <a:endParaRPr lang="en-US" sz="1400" dirty="0"/>
          </a:p>
        </p:txBody>
      </p:sp>
      <p:sp>
        <p:nvSpPr>
          <p:cNvPr id="15" name="Shape 12"/>
          <p:cNvSpPr/>
          <p:nvPr/>
        </p:nvSpPr>
        <p:spPr>
          <a:xfrm>
            <a:off x="5404104" y="3209544"/>
            <a:ext cx="618134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16" name="Text 13"/>
          <p:cNvSpPr/>
          <p:nvPr/>
        </p:nvSpPr>
        <p:spPr>
          <a:xfrm>
            <a:off x="5660136" y="3392424"/>
            <a:ext cx="457200" cy="640080"/>
          </a:xfrm>
          <a:prstGeom prst="rect">
            <a:avLst/>
          </a:prstGeom>
          <a:noFill/>
          <a:ln/>
        </p:spPr>
        <p:txBody>
          <a:bodyPr wrap="square" lIns="0" tIns="0" rIns="0" bIns="0" rtlCol="0" anchor="ctr">
            <a:normAutofit/>
          </a:bodyPr>
          <a:lstStyle/>
          <a:p>
            <a:pPr marL="0" indent="0">
              <a:lnSpc>
                <a:spcPct val="105000"/>
              </a:lnSpc>
              <a:buNone/>
            </a:pPr>
            <a:r>
              <a:rPr lang="en-US" sz="2600" b="1" dirty="0">
                <a:solidFill>
                  <a:srgbClr val="3AD7F9"/>
                </a:solidFill>
                <a:latin typeface="Inter" pitchFamily="34" charset="0"/>
                <a:ea typeface="Inter" pitchFamily="34" charset="-122"/>
                <a:cs typeface="Inter" pitchFamily="34" charset="-120"/>
              </a:rPr>
              <a:t>02</a:t>
            </a:r>
            <a:endParaRPr lang="en-US" sz="2600" dirty="0"/>
          </a:p>
        </p:txBody>
      </p:sp>
      <p:sp>
        <p:nvSpPr>
          <p:cNvPr id="17" name="Text 14"/>
          <p:cNvSpPr/>
          <p:nvPr/>
        </p:nvSpPr>
        <p:spPr>
          <a:xfrm>
            <a:off x="6263640" y="3300984"/>
            <a:ext cx="1874520" cy="457200"/>
          </a:xfrm>
          <a:prstGeom prst="rect">
            <a:avLst/>
          </a:prstGeom>
          <a:noFill/>
          <a:ln/>
        </p:spPr>
        <p:txBody>
          <a:bodyPr wrap="square" lIns="0" tIns="0" rIns="0" bIns="0" rtlCol="0" anchor="ctr">
            <a:normAutofit/>
          </a:bodyPr>
          <a:lstStyle/>
          <a:p>
            <a:pPr marL="0" indent="0">
              <a:lnSpc>
                <a:spcPct val="105000"/>
              </a:lnSpc>
              <a:buNone/>
            </a:pPr>
            <a:r>
              <a:rPr lang="en-US" sz="1600" b="1" dirty="0">
                <a:solidFill>
                  <a:srgbClr val="F6FAFD"/>
                </a:solidFill>
                <a:latin typeface="Inter" pitchFamily="34" charset="0"/>
                <a:ea typeface="Inter" pitchFamily="34" charset="-122"/>
                <a:cs typeface="Inter" pitchFamily="34" charset="-120"/>
              </a:rPr>
              <a:t>УДИВЛЕНИЕ</a:t>
            </a:r>
            <a:endParaRPr lang="en-US" sz="1600" dirty="0"/>
          </a:p>
        </p:txBody>
      </p:sp>
      <p:sp>
        <p:nvSpPr>
          <p:cNvPr id="18" name="Text 15"/>
          <p:cNvSpPr/>
          <p:nvPr/>
        </p:nvSpPr>
        <p:spPr>
          <a:xfrm>
            <a:off x="8229600" y="3255264"/>
            <a:ext cx="3090672" cy="86868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короткая пауза,</a:t>
            </a:r>
            <a:endParaRPr lang="en-US" sz="1400" dirty="0"/>
          </a:p>
          <a:p>
            <a:pPr marL="0" indent="0">
              <a:lnSpc>
                <a:spcPct val="105000"/>
              </a:lnSpc>
              <a:buNone/>
            </a:pPr>
            <a:r>
              <a:rPr lang="en-US" sz="1400" dirty="0">
                <a:solidFill>
                  <a:srgbClr val="AFC6D8"/>
                </a:solidFill>
                <a:latin typeface="Inter" pitchFamily="34" charset="0"/>
                <a:ea typeface="Inter" pitchFamily="34" charset="-122"/>
                <a:cs typeface="Inter" pitchFamily="34" charset="-120"/>
              </a:rPr>
              <a:t>резкий поворот головы</a:t>
            </a:r>
            <a:endParaRPr lang="en-US" sz="1400" dirty="0"/>
          </a:p>
        </p:txBody>
      </p:sp>
      <p:sp>
        <p:nvSpPr>
          <p:cNvPr id="19" name="Shape 16"/>
          <p:cNvSpPr/>
          <p:nvPr/>
        </p:nvSpPr>
        <p:spPr>
          <a:xfrm>
            <a:off x="5404104" y="4562856"/>
            <a:ext cx="618134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20" name="Text 17"/>
          <p:cNvSpPr/>
          <p:nvPr/>
        </p:nvSpPr>
        <p:spPr>
          <a:xfrm>
            <a:off x="5660136" y="4745736"/>
            <a:ext cx="457200" cy="640080"/>
          </a:xfrm>
          <a:prstGeom prst="rect">
            <a:avLst/>
          </a:prstGeom>
          <a:noFill/>
          <a:ln/>
        </p:spPr>
        <p:txBody>
          <a:bodyPr wrap="square" lIns="0" tIns="0" rIns="0" bIns="0" rtlCol="0" anchor="ctr">
            <a:normAutofit/>
          </a:bodyPr>
          <a:lstStyle/>
          <a:p>
            <a:pPr marL="0" indent="0">
              <a:lnSpc>
                <a:spcPct val="105000"/>
              </a:lnSpc>
              <a:buNone/>
            </a:pPr>
            <a:r>
              <a:rPr lang="en-US" sz="2600" b="1" dirty="0">
                <a:solidFill>
                  <a:srgbClr val="3AD7F9"/>
                </a:solidFill>
                <a:latin typeface="Inter" pitchFamily="34" charset="0"/>
                <a:ea typeface="Inter" pitchFamily="34" charset="-122"/>
                <a:cs typeface="Inter" pitchFamily="34" charset="-120"/>
              </a:rPr>
              <a:t>03</a:t>
            </a:r>
            <a:endParaRPr lang="en-US" sz="2600" dirty="0"/>
          </a:p>
        </p:txBody>
      </p:sp>
      <p:sp>
        <p:nvSpPr>
          <p:cNvPr id="21" name="Text 18"/>
          <p:cNvSpPr/>
          <p:nvPr/>
        </p:nvSpPr>
        <p:spPr>
          <a:xfrm>
            <a:off x="6263640" y="4654296"/>
            <a:ext cx="1874520" cy="457200"/>
          </a:xfrm>
          <a:prstGeom prst="rect">
            <a:avLst/>
          </a:prstGeom>
          <a:noFill/>
          <a:ln/>
        </p:spPr>
        <p:txBody>
          <a:bodyPr wrap="square" lIns="0" tIns="0" rIns="0" bIns="0" rtlCol="0" anchor="ctr">
            <a:normAutofit/>
          </a:bodyPr>
          <a:lstStyle/>
          <a:p>
            <a:pPr marL="0" indent="0">
              <a:lnSpc>
                <a:spcPct val="105000"/>
              </a:lnSpc>
              <a:buNone/>
            </a:pPr>
            <a:r>
              <a:rPr lang="en-US" sz="1600" b="1" dirty="0">
                <a:solidFill>
                  <a:srgbClr val="F6FAFD"/>
                </a:solidFill>
                <a:latin typeface="Inter" pitchFamily="34" charset="0"/>
                <a:ea typeface="Inter" pitchFamily="34" charset="-122"/>
                <a:cs typeface="Inter" pitchFamily="34" charset="-120"/>
              </a:rPr>
              <a:t>ГРУСТЬ</a:t>
            </a:r>
            <a:endParaRPr lang="en-US" sz="1600" dirty="0"/>
          </a:p>
        </p:txBody>
      </p:sp>
      <p:sp>
        <p:nvSpPr>
          <p:cNvPr id="22" name="Text 19"/>
          <p:cNvSpPr/>
          <p:nvPr/>
        </p:nvSpPr>
        <p:spPr>
          <a:xfrm>
            <a:off x="8229600" y="4608576"/>
            <a:ext cx="3090672" cy="86868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медленное движение,</a:t>
            </a:r>
            <a:endParaRPr lang="en-US" sz="1400" dirty="0"/>
          </a:p>
          <a:p>
            <a:pPr marL="0" indent="0">
              <a:lnSpc>
                <a:spcPct val="105000"/>
              </a:lnSpc>
              <a:buNone/>
            </a:pPr>
            <a:r>
              <a:rPr lang="en-US" sz="1400" dirty="0">
                <a:solidFill>
                  <a:srgbClr val="AFC6D8"/>
                </a:solidFill>
                <a:latin typeface="Inter" pitchFamily="34" charset="0"/>
                <a:ea typeface="Inter" pitchFamily="34" charset="-122"/>
                <a:cs typeface="Inter" pitchFamily="34" charset="-120"/>
              </a:rPr>
              <a:t>опущенные ноги</a:t>
            </a:r>
            <a:endParaRPr lang="en-US" sz="1400" dirty="0"/>
          </a:p>
        </p:txBody>
      </p:sp>
      <p:sp>
        <p:nvSpPr>
          <p:cNvPr id="23" name="Text 20"/>
          <p:cNvSpPr/>
          <p:nvPr/>
        </p:nvSpPr>
        <p:spPr>
          <a:xfrm>
            <a:off x="5431536" y="6062472"/>
            <a:ext cx="6080760" cy="265176"/>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F3AB5A"/>
                </a:solidFill>
                <a:latin typeface="Inter" pitchFamily="34" charset="0"/>
                <a:ea typeface="Inter" pitchFamily="34" charset="-122"/>
                <a:cs typeface="Inter" pitchFamily="34" charset="-120"/>
              </a:rPr>
              <a:t>Эмоциональные сценарии — цель демонстрации</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Шесть узлов вместо сложного монолита</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Детали можно изготовить, заменить и доработать независимо.</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АРХИТЕКТУРА</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04 / 17</a:t>
            </a:r>
          </a:p>
        </p:txBody>
      </p:sp>
      <p:sp>
        <p:nvSpPr>
          <p:cNvPr id="9" name="Shape 7"/>
          <p:cNvSpPr/>
          <p:nvPr/>
        </p:nvSpPr>
        <p:spPr>
          <a:xfrm>
            <a:off x="457200" y="1773936"/>
            <a:ext cx="4983480" cy="4535424"/>
          </a:xfrm>
          <a:prstGeom prst="roundRect">
            <a:avLst>
              <a:gd name="adj" fmla="val 2419"/>
            </a:avLst>
          </a:prstGeom>
          <a:solidFill>
            <a:srgbClr val="F6FAFD"/>
          </a:solidFill>
          <a:ln w="12700">
            <a:solidFill>
              <a:srgbClr val="F6FAFD"/>
            </a:solidFill>
            <a:prstDash val="solid"/>
          </a:ln>
        </p:spPr>
        <p:txBody>
          <a:bodyPr/>
          <a:lstStyle/>
          <a:p>
            <a:endParaRPr/>
          </a:p>
        </p:txBody>
      </p:sp>
      <p:pic>
        <p:nvPicPr>
          <p:cNvPr id="10" name="Image 0" descr="/mnt/data/work_r2/R2D2-PIV/img/head_r5_mechanism.png"/>
          <p:cNvPicPr>
            <a:picLocks noChangeAspect="1"/>
          </p:cNvPicPr>
          <p:nvPr/>
        </p:nvPicPr>
        <p:blipFill>
          <a:blip r:embed="rId3"/>
          <a:stretch>
            <a:fillRect/>
          </a:stretch>
        </p:blipFill>
        <p:spPr>
          <a:xfrm>
            <a:off x="1086944" y="1773936"/>
            <a:ext cx="3723992" cy="4535424"/>
          </a:xfrm>
          <a:prstGeom prst="rect">
            <a:avLst/>
          </a:prstGeom>
        </p:spPr>
      </p:pic>
      <p:sp>
        <p:nvSpPr>
          <p:cNvPr id="11" name="Shape 8"/>
          <p:cNvSpPr/>
          <p:nvPr/>
        </p:nvSpPr>
        <p:spPr>
          <a:xfrm>
            <a:off x="5715000" y="18653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12" name="Text 9"/>
          <p:cNvSpPr/>
          <p:nvPr/>
        </p:nvSpPr>
        <p:spPr>
          <a:xfrm>
            <a:off x="5843016" y="19751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01</a:t>
            </a:r>
            <a:endParaRPr lang="en-US" sz="1300" dirty="0"/>
          </a:p>
        </p:txBody>
      </p:sp>
      <p:sp>
        <p:nvSpPr>
          <p:cNvPr id="13" name="Text 10"/>
          <p:cNvSpPr/>
          <p:nvPr/>
        </p:nvSpPr>
        <p:spPr>
          <a:xfrm>
            <a:off x="6190488" y="20025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Два ведущих колеса</a:t>
            </a:r>
            <a:endParaRPr lang="en-US" sz="1300" dirty="0"/>
          </a:p>
        </p:txBody>
      </p:sp>
      <p:sp>
        <p:nvSpPr>
          <p:cNvPr id="14" name="Text 11"/>
          <p:cNvSpPr/>
          <p:nvPr/>
        </p:nvSpPr>
        <p:spPr>
          <a:xfrm>
            <a:off x="5870448" y="25511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JGA25 + Ø65</a:t>
            </a:r>
            <a:endParaRPr lang="en-US" sz="1100" dirty="0"/>
          </a:p>
        </p:txBody>
      </p:sp>
      <p:sp>
        <p:nvSpPr>
          <p:cNvPr id="15" name="Shape 12"/>
          <p:cNvSpPr/>
          <p:nvPr/>
        </p:nvSpPr>
        <p:spPr>
          <a:xfrm>
            <a:off x="8641080" y="18653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16" name="Text 13"/>
          <p:cNvSpPr/>
          <p:nvPr/>
        </p:nvSpPr>
        <p:spPr>
          <a:xfrm>
            <a:off x="8769096" y="19751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02</a:t>
            </a:r>
            <a:endParaRPr lang="en-US" sz="1300" dirty="0"/>
          </a:p>
        </p:txBody>
      </p:sp>
      <p:sp>
        <p:nvSpPr>
          <p:cNvPr id="17" name="Text 14"/>
          <p:cNvSpPr/>
          <p:nvPr/>
        </p:nvSpPr>
        <p:spPr>
          <a:xfrm>
            <a:off x="9116568" y="20025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Третья опора</a:t>
            </a:r>
            <a:endParaRPr lang="en-US" sz="1300" dirty="0"/>
          </a:p>
        </p:txBody>
      </p:sp>
      <p:sp>
        <p:nvSpPr>
          <p:cNvPr id="18" name="Text 15"/>
          <p:cNvSpPr/>
          <p:nvPr/>
        </p:nvSpPr>
        <p:spPr>
          <a:xfrm>
            <a:off x="8796528" y="25511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лыжа с регулировкой</a:t>
            </a:r>
            <a:endParaRPr lang="en-US" sz="1100" dirty="0"/>
          </a:p>
        </p:txBody>
      </p:sp>
      <p:sp>
        <p:nvSpPr>
          <p:cNvPr id="19" name="Shape 16"/>
          <p:cNvSpPr/>
          <p:nvPr/>
        </p:nvSpPr>
        <p:spPr>
          <a:xfrm>
            <a:off x="5715000" y="32369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20" name="Text 17"/>
          <p:cNvSpPr/>
          <p:nvPr/>
        </p:nvSpPr>
        <p:spPr>
          <a:xfrm>
            <a:off x="5843016" y="33467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03</a:t>
            </a:r>
            <a:endParaRPr lang="en-US" sz="1300" dirty="0"/>
          </a:p>
        </p:txBody>
      </p:sp>
      <p:sp>
        <p:nvSpPr>
          <p:cNvPr id="21" name="Text 18"/>
          <p:cNvSpPr/>
          <p:nvPr/>
        </p:nvSpPr>
        <p:spPr>
          <a:xfrm>
            <a:off x="6190488" y="33741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Декоративные ноги</a:t>
            </a:r>
            <a:endParaRPr lang="en-US" sz="1300" dirty="0"/>
          </a:p>
        </p:txBody>
      </p:sp>
      <p:sp>
        <p:nvSpPr>
          <p:cNvPr id="22" name="Text 19"/>
          <p:cNvSpPr/>
          <p:nvPr/>
        </p:nvSpPr>
        <p:spPr>
          <a:xfrm>
            <a:off x="5870448" y="39227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MG995 + колесо Ø36</a:t>
            </a:r>
            <a:endParaRPr lang="en-US" sz="1100" dirty="0"/>
          </a:p>
        </p:txBody>
      </p:sp>
      <p:sp>
        <p:nvSpPr>
          <p:cNvPr id="23" name="Shape 20"/>
          <p:cNvSpPr/>
          <p:nvPr/>
        </p:nvSpPr>
        <p:spPr>
          <a:xfrm>
            <a:off x="8641080" y="32369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24" name="Text 21"/>
          <p:cNvSpPr/>
          <p:nvPr/>
        </p:nvSpPr>
        <p:spPr>
          <a:xfrm>
            <a:off x="8769096" y="33467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04</a:t>
            </a:r>
            <a:endParaRPr lang="en-US" sz="1300" dirty="0"/>
          </a:p>
        </p:txBody>
      </p:sp>
      <p:sp>
        <p:nvSpPr>
          <p:cNvPr id="25" name="Text 22"/>
          <p:cNvSpPr/>
          <p:nvPr/>
        </p:nvSpPr>
        <p:spPr>
          <a:xfrm>
            <a:off x="9116568" y="33741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Поворот головы</a:t>
            </a:r>
            <a:endParaRPr lang="en-US" sz="1300" dirty="0"/>
          </a:p>
        </p:txBody>
      </p:sp>
      <p:sp>
        <p:nvSpPr>
          <p:cNvPr id="26" name="Text 23"/>
          <p:cNvSpPr/>
          <p:nvPr/>
        </p:nvSpPr>
        <p:spPr>
          <a:xfrm>
            <a:off x="8796528" y="39227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венец z77 / шестерня z14</a:t>
            </a:r>
            <a:endParaRPr lang="en-US" sz="1100" dirty="0"/>
          </a:p>
        </p:txBody>
      </p:sp>
      <p:sp>
        <p:nvSpPr>
          <p:cNvPr id="27" name="Shape 24"/>
          <p:cNvSpPr/>
          <p:nvPr/>
        </p:nvSpPr>
        <p:spPr>
          <a:xfrm>
            <a:off x="5715000" y="46085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28" name="Text 25"/>
          <p:cNvSpPr/>
          <p:nvPr/>
        </p:nvSpPr>
        <p:spPr>
          <a:xfrm>
            <a:off x="5843016" y="47183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05</a:t>
            </a:r>
            <a:endParaRPr lang="en-US" sz="1300" dirty="0"/>
          </a:p>
        </p:txBody>
      </p:sp>
      <p:sp>
        <p:nvSpPr>
          <p:cNvPr id="29" name="Text 26"/>
          <p:cNvSpPr/>
          <p:nvPr/>
        </p:nvSpPr>
        <p:spPr>
          <a:xfrm>
            <a:off x="6190488" y="47457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Силовой корпус</a:t>
            </a:r>
            <a:endParaRPr lang="en-US" sz="1300" dirty="0"/>
          </a:p>
        </p:txBody>
      </p:sp>
      <p:sp>
        <p:nvSpPr>
          <p:cNvPr id="30" name="Text 27"/>
          <p:cNvSpPr/>
          <p:nvPr/>
        </p:nvSpPr>
        <p:spPr>
          <a:xfrm>
            <a:off x="5870448" y="52943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6 панелей фанеры 4 мм</a:t>
            </a:r>
            <a:endParaRPr lang="en-US" sz="1100" dirty="0"/>
          </a:p>
        </p:txBody>
      </p:sp>
      <p:sp>
        <p:nvSpPr>
          <p:cNvPr id="31" name="Shape 28"/>
          <p:cNvSpPr/>
          <p:nvPr/>
        </p:nvSpPr>
        <p:spPr>
          <a:xfrm>
            <a:off x="8641080" y="4608576"/>
            <a:ext cx="2743200" cy="1161288"/>
          </a:xfrm>
          <a:prstGeom prst="roundRect">
            <a:avLst>
              <a:gd name="adj" fmla="val 11024"/>
            </a:avLst>
          </a:prstGeom>
          <a:solidFill>
            <a:srgbClr val="122D44"/>
          </a:solidFill>
          <a:ln w="12700">
            <a:solidFill>
              <a:srgbClr val="122D44"/>
            </a:solidFill>
            <a:prstDash val="solid"/>
          </a:ln>
        </p:spPr>
        <p:txBody>
          <a:bodyPr/>
          <a:lstStyle/>
          <a:p>
            <a:endParaRPr/>
          </a:p>
        </p:txBody>
      </p:sp>
      <p:sp>
        <p:nvSpPr>
          <p:cNvPr id="32" name="Text 29"/>
          <p:cNvSpPr/>
          <p:nvPr/>
        </p:nvSpPr>
        <p:spPr>
          <a:xfrm>
            <a:off x="8769096" y="4718304"/>
            <a:ext cx="365760" cy="347472"/>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3AD7F9"/>
                </a:solidFill>
                <a:latin typeface="Inter" pitchFamily="34" charset="0"/>
                <a:ea typeface="Inter" pitchFamily="34" charset="-122"/>
                <a:cs typeface="Inter" pitchFamily="34" charset="-120"/>
              </a:rPr>
              <a:t>06</a:t>
            </a:r>
            <a:endParaRPr lang="en-US" sz="1300" dirty="0"/>
          </a:p>
        </p:txBody>
      </p:sp>
      <p:sp>
        <p:nvSpPr>
          <p:cNvPr id="33" name="Text 30"/>
          <p:cNvSpPr/>
          <p:nvPr/>
        </p:nvSpPr>
        <p:spPr>
          <a:xfrm>
            <a:off x="9116568" y="4745736"/>
            <a:ext cx="2130552" cy="384048"/>
          </a:xfrm>
          <a:prstGeom prst="rect">
            <a:avLst/>
          </a:prstGeom>
          <a:noFill/>
          <a:ln/>
        </p:spPr>
        <p:txBody>
          <a:bodyPr wrap="square" lIns="0" tIns="0" rIns="0" bIns="0" rtlCol="0" anchor="ctr">
            <a:normAutofit/>
          </a:bodyPr>
          <a:lstStyle/>
          <a:p>
            <a:pPr marL="0" indent="0">
              <a:lnSpc>
                <a:spcPct val="105000"/>
              </a:lnSpc>
              <a:buNone/>
            </a:pPr>
            <a:r>
              <a:rPr lang="en-US" sz="1300" b="1" dirty="0">
                <a:solidFill>
                  <a:srgbClr val="F6FAFD"/>
                </a:solidFill>
                <a:latin typeface="Inter" pitchFamily="34" charset="0"/>
                <a:ea typeface="Inter" pitchFamily="34" charset="-122"/>
                <a:cs typeface="Inter" pitchFamily="34" charset="-120"/>
              </a:rPr>
              <a:t>Оболочка головы</a:t>
            </a:r>
            <a:endParaRPr lang="en-US" sz="1300" dirty="0"/>
          </a:p>
        </p:txBody>
      </p:sp>
      <p:sp>
        <p:nvSpPr>
          <p:cNvPr id="34" name="Text 31"/>
          <p:cNvSpPr/>
          <p:nvPr/>
        </p:nvSpPr>
        <p:spPr>
          <a:xfrm>
            <a:off x="8796528" y="5294376"/>
            <a:ext cx="2450592" cy="320040"/>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8 панелей оргстекла</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Параметры → детали → производство</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Один Python-скрипт может выдавать модели сразу в нескольких форматах.</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ПРОЕКТИРОВАНИЕ</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05 / 17</a:t>
            </a:r>
          </a:p>
        </p:txBody>
      </p:sp>
      <p:sp>
        <p:nvSpPr>
          <p:cNvPr id="9" name="Shape 7"/>
          <p:cNvSpPr/>
          <p:nvPr/>
        </p:nvSpPr>
        <p:spPr>
          <a:xfrm>
            <a:off x="530352" y="2011680"/>
            <a:ext cx="2651760" cy="2039112"/>
          </a:xfrm>
          <a:prstGeom prst="roundRect">
            <a:avLst>
              <a:gd name="adj" fmla="val 6278"/>
            </a:avLst>
          </a:prstGeom>
          <a:solidFill>
            <a:srgbClr val="122D44"/>
          </a:solidFill>
          <a:ln w="12700">
            <a:solidFill>
              <a:srgbClr val="122D44"/>
            </a:solidFill>
            <a:prstDash val="solid"/>
          </a:ln>
        </p:spPr>
        <p:txBody>
          <a:bodyPr/>
          <a:lstStyle/>
          <a:p>
            <a:endParaRPr/>
          </a:p>
        </p:txBody>
      </p:sp>
      <p:sp>
        <p:nvSpPr>
          <p:cNvPr id="10" name="Text 8"/>
          <p:cNvSpPr/>
          <p:nvPr/>
        </p:nvSpPr>
        <p:spPr>
          <a:xfrm>
            <a:off x="694944" y="2212848"/>
            <a:ext cx="621792" cy="502920"/>
          </a:xfrm>
          <a:prstGeom prst="rect">
            <a:avLst/>
          </a:prstGeom>
          <a:noFill/>
          <a:ln/>
        </p:spPr>
        <p:txBody>
          <a:bodyPr wrap="square" lIns="0" tIns="0" rIns="0" bIns="0" rtlCol="0" anchor="ctr">
            <a:normAutofit/>
          </a:bodyPr>
          <a:lstStyle/>
          <a:p>
            <a:pPr marL="0" indent="0">
              <a:lnSpc>
                <a:spcPct val="105000"/>
              </a:lnSpc>
              <a:buNone/>
            </a:pPr>
            <a:r>
              <a:rPr lang="en-US" sz="2200" b="1" dirty="0">
                <a:solidFill>
                  <a:srgbClr val="3AD7F9"/>
                </a:solidFill>
                <a:latin typeface="Inter" pitchFamily="34" charset="0"/>
                <a:ea typeface="Inter" pitchFamily="34" charset="-122"/>
                <a:cs typeface="Inter" pitchFamily="34" charset="-120"/>
              </a:rPr>
              <a:t>01</a:t>
            </a:r>
            <a:endParaRPr lang="en-US" sz="2200" dirty="0"/>
          </a:p>
        </p:txBody>
      </p:sp>
      <p:sp>
        <p:nvSpPr>
          <p:cNvPr id="11" name="Text 9"/>
          <p:cNvSpPr/>
          <p:nvPr/>
        </p:nvSpPr>
        <p:spPr>
          <a:xfrm>
            <a:off x="694944" y="2770632"/>
            <a:ext cx="2286000" cy="384048"/>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Параметры</a:t>
            </a:r>
            <a:endParaRPr lang="en-US" sz="1800" dirty="0"/>
          </a:p>
        </p:txBody>
      </p:sp>
      <p:sp>
        <p:nvSpPr>
          <p:cNvPr id="12" name="Text 10"/>
          <p:cNvSpPr/>
          <p:nvPr/>
        </p:nvSpPr>
        <p:spPr>
          <a:xfrm>
            <a:off x="694944" y="3273552"/>
            <a:ext cx="2313432" cy="51206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толщина, диаметр, зазоры</a:t>
            </a:r>
            <a:endParaRPr lang="en-US" sz="1200" dirty="0"/>
          </a:p>
        </p:txBody>
      </p:sp>
      <p:sp>
        <p:nvSpPr>
          <p:cNvPr id="13" name="Text 11"/>
          <p:cNvSpPr/>
          <p:nvPr/>
        </p:nvSpPr>
        <p:spPr>
          <a:xfrm>
            <a:off x="3227832" y="2816352"/>
            <a:ext cx="182880" cy="365760"/>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3AD7F9"/>
                </a:solidFill>
                <a:latin typeface="Inter" pitchFamily="34" charset="0"/>
                <a:ea typeface="Inter" pitchFamily="34" charset="-122"/>
                <a:cs typeface="Inter" pitchFamily="34" charset="-120"/>
              </a:rPr>
              <a:t>→</a:t>
            </a:r>
            <a:endParaRPr lang="en-US" sz="1700" dirty="0"/>
          </a:p>
        </p:txBody>
      </p:sp>
      <p:sp>
        <p:nvSpPr>
          <p:cNvPr id="14" name="Shape 12"/>
          <p:cNvSpPr/>
          <p:nvPr/>
        </p:nvSpPr>
        <p:spPr>
          <a:xfrm>
            <a:off x="3447288" y="2011680"/>
            <a:ext cx="2651760" cy="2039112"/>
          </a:xfrm>
          <a:prstGeom prst="roundRect">
            <a:avLst>
              <a:gd name="adj" fmla="val 6278"/>
            </a:avLst>
          </a:prstGeom>
          <a:solidFill>
            <a:srgbClr val="122D44"/>
          </a:solidFill>
          <a:ln w="12700">
            <a:solidFill>
              <a:srgbClr val="122D44"/>
            </a:solidFill>
            <a:prstDash val="solid"/>
          </a:ln>
        </p:spPr>
        <p:txBody>
          <a:bodyPr/>
          <a:lstStyle/>
          <a:p>
            <a:endParaRPr/>
          </a:p>
        </p:txBody>
      </p:sp>
      <p:sp>
        <p:nvSpPr>
          <p:cNvPr id="15" name="Text 13"/>
          <p:cNvSpPr/>
          <p:nvPr/>
        </p:nvSpPr>
        <p:spPr>
          <a:xfrm>
            <a:off x="3611880" y="2212848"/>
            <a:ext cx="621792" cy="502920"/>
          </a:xfrm>
          <a:prstGeom prst="rect">
            <a:avLst/>
          </a:prstGeom>
          <a:noFill/>
          <a:ln/>
        </p:spPr>
        <p:txBody>
          <a:bodyPr wrap="square" lIns="0" tIns="0" rIns="0" bIns="0" rtlCol="0" anchor="ctr">
            <a:normAutofit/>
          </a:bodyPr>
          <a:lstStyle/>
          <a:p>
            <a:pPr marL="0" indent="0">
              <a:lnSpc>
                <a:spcPct val="105000"/>
              </a:lnSpc>
              <a:buNone/>
            </a:pPr>
            <a:r>
              <a:rPr lang="en-US" sz="2200" b="1" dirty="0">
                <a:solidFill>
                  <a:srgbClr val="3AD7F9"/>
                </a:solidFill>
                <a:latin typeface="Inter" pitchFamily="34" charset="0"/>
                <a:ea typeface="Inter" pitchFamily="34" charset="-122"/>
                <a:cs typeface="Inter" pitchFamily="34" charset="-120"/>
              </a:rPr>
              <a:t>02</a:t>
            </a:r>
            <a:endParaRPr lang="en-US" sz="2200" dirty="0"/>
          </a:p>
        </p:txBody>
      </p:sp>
      <p:sp>
        <p:nvSpPr>
          <p:cNvPr id="16" name="Text 14"/>
          <p:cNvSpPr/>
          <p:nvPr/>
        </p:nvSpPr>
        <p:spPr>
          <a:xfrm>
            <a:off x="3611880" y="2770632"/>
            <a:ext cx="2286000" cy="384048"/>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Генерация</a:t>
            </a:r>
            <a:endParaRPr lang="en-US" sz="1800" dirty="0"/>
          </a:p>
        </p:txBody>
      </p:sp>
      <p:sp>
        <p:nvSpPr>
          <p:cNvPr id="17" name="Text 15"/>
          <p:cNvSpPr/>
          <p:nvPr/>
        </p:nvSpPr>
        <p:spPr>
          <a:xfrm>
            <a:off x="3611880" y="3273552"/>
            <a:ext cx="2313432" cy="51206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геометрия и проверки</a:t>
            </a:r>
            <a:endParaRPr lang="en-US" sz="1200" dirty="0"/>
          </a:p>
        </p:txBody>
      </p:sp>
      <p:sp>
        <p:nvSpPr>
          <p:cNvPr id="18" name="Text 16"/>
          <p:cNvSpPr/>
          <p:nvPr/>
        </p:nvSpPr>
        <p:spPr>
          <a:xfrm>
            <a:off x="6144768" y="2816352"/>
            <a:ext cx="182880" cy="365760"/>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3AD7F9"/>
                </a:solidFill>
                <a:latin typeface="Inter" pitchFamily="34" charset="0"/>
                <a:ea typeface="Inter" pitchFamily="34" charset="-122"/>
                <a:cs typeface="Inter" pitchFamily="34" charset="-120"/>
              </a:rPr>
              <a:t>→</a:t>
            </a:r>
            <a:endParaRPr lang="en-US" sz="1700" dirty="0"/>
          </a:p>
        </p:txBody>
      </p:sp>
      <p:sp>
        <p:nvSpPr>
          <p:cNvPr id="19" name="Shape 17"/>
          <p:cNvSpPr/>
          <p:nvPr/>
        </p:nvSpPr>
        <p:spPr>
          <a:xfrm>
            <a:off x="6364224" y="2011680"/>
            <a:ext cx="2651760" cy="2039112"/>
          </a:xfrm>
          <a:prstGeom prst="roundRect">
            <a:avLst>
              <a:gd name="adj" fmla="val 6278"/>
            </a:avLst>
          </a:prstGeom>
          <a:solidFill>
            <a:srgbClr val="193B54"/>
          </a:solidFill>
          <a:ln w="12700">
            <a:solidFill>
              <a:srgbClr val="193B54"/>
            </a:solidFill>
            <a:prstDash val="solid"/>
          </a:ln>
        </p:spPr>
        <p:txBody>
          <a:bodyPr/>
          <a:lstStyle/>
          <a:p>
            <a:endParaRPr/>
          </a:p>
        </p:txBody>
      </p:sp>
      <p:sp>
        <p:nvSpPr>
          <p:cNvPr id="20" name="Text 18"/>
          <p:cNvSpPr/>
          <p:nvPr/>
        </p:nvSpPr>
        <p:spPr>
          <a:xfrm>
            <a:off x="6528816" y="2212848"/>
            <a:ext cx="621792" cy="502920"/>
          </a:xfrm>
          <a:prstGeom prst="rect">
            <a:avLst/>
          </a:prstGeom>
          <a:noFill/>
          <a:ln/>
        </p:spPr>
        <p:txBody>
          <a:bodyPr wrap="square" lIns="0" tIns="0" rIns="0" bIns="0" rtlCol="0" anchor="ctr">
            <a:normAutofit/>
          </a:bodyPr>
          <a:lstStyle/>
          <a:p>
            <a:pPr marL="0" indent="0">
              <a:lnSpc>
                <a:spcPct val="105000"/>
              </a:lnSpc>
              <a:buNone/>
            </a:pPr>
            <a:r>
              <a:rPr lang="en-US" sz="2200" b="1" dirty="0">
                <a:solidFill>
                  <a:srgbClr val="3AD7F9"/>
                </a:solidFill>
                <a:latin typeface="Inter" pitchFamily="34" charset="0"/>
                <a:ea typeface="Inter" pitchFamily="34" charset="-122"/>
                <a:cs typeface="Inter" pitchFamily="34" charset="-120"/>
              </a:rPr>
              <a:t>03</a:t>
            </a:r>
            <a:endParaRPr lang="en-US" sz="2200" dirty="0"/>
          </a:p>
        </p:txBody>
      </p:sp>
      <p:sp>
        <p:nvSpPr>
          <p:cNvPr id="21" name="Text 19"/>
          <p:cNvSpPr/>
          <p:nvPr/>
        </p:nvSpPr>
        <p:spPr>
          <a:xfrm>
            <a:off x="6528816" y="2770632"/>
            <a:ext cx="2286000" cy="384048"/>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Экспорт</a:t>
            </a:r>
            <a:endParaRPr lang="en-US" sz="1800" dirty="0"/>
          </a:p>
        </p:txBody>
      </p:sp>
      <p:sp>
        <p:nvSpPr>
          <p:cNvPr id="22" name="Text 20"/>
          <p:cNvSpPr/>
          <p:nvPr/>
        </p:nvSpPr>
        <p:spPr>
          <a:xfrm>
            <a:off x="6528816" y="3273552"/>
            <a:ext cx="2313432" cy="51206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STEP  •  STL  •  DXF</a:t>
            </a:r>
            <a:endParaRPr lang="en-US" sz="1200" dirty="0"/>
          </a:p>
        </p:txBody>
      </p:sp>
      <p:sp>
        <p:nvSpPr>
          <p:cNvPr id="23" name="Text 21"/>
          <p:cNvSpPr/>
          <p:nvPr/>
        </p:nvSpPr>
        <p:spPr>
          <a:xfrm>
            <a:off x="9061704" y="2816352"/>
            <a:ext cx="182880" cy="365760"/>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3AD7F9"/>
                </a:solidFill>
                <a:latin typeface="Inter" pitchFamily="34" charset="0"/>
                <a:ea typeface="Inter" pitchFamily="34" charset="-122"/>
                <a:cs typeface="Inter" pitchFamily="34" charset="-120"/>
              </a:rPr>
              <a:t>→</a:t>
            </a:r>
            <a:endParaRPr lang="en-US" sz="1700" dirty="0"/>
          </a:p>
        </p:txBody>
      </p:sp>
      <p:sp>
        <p:nvSpPr>
          <p:cNvPr id="24" name="Shape 22"/>
          <p:cNvSpPr/>
          <p:nvPr/>
        </p:nvSpPr>
        <p:spPr>
          <a:xfrm>
            <a:off x="9281160" y="2011680"/>
            <a:ext cx="2651760" cy="2039112"/>
          </a:xfrm>
          <a:prstGeom prst="roundRect">
            <a:avLst>
              <a:gd name="adj" fmla="val 6278"/>
            </a:avLst>
          </a:prstGeom>
          <a:solidFill>
            <a:srgbClr val="122D44"/>
          </a:solidFill>
          <a:ln w="12700">
            <a:solidFill>
              <a:srgbClr val="122D44"/>
            </a:solidFill>
            <a:prstDash val="solid"/>
          </a:ln>
        </p:spPr>
        <p:txBody>
          <a:bodyPr/>
          <a:lstStyle/>
          <a:p>
            <a:endParaRPr/>
          </a:p>
        </p:txBody>
      </p:sp>
      <p:sp>
        <p:nvSpPr>
          <p:cNvPr id="25" name="Text 23"/>
          <p:cNvSpPr/>
          <p:nvPr/>
        </p:nvSpPr>
        <p:spPr>
          <a:xfrm>
            <a:off x="9445752" y="2212848"/>
            <a:ext cx="621792" cy="502920"/>
          </a:xfrm>
          <a:prstGeom prst="rect">
            <a:avLst/>
          </a:prstGeom>
          <a:noFill/>
          <a:ln/>
        </p:spPr>
        <p:txBody>
          <a:bodyPr wrap="square" lIns="0" tIns="0" rIns="0" bIns="0" rtlCol="0" anchor="ctr">
            <a:normAutofit/>
          </a:bodyPr>
          <a:lstStyle/>
          <a:p>
            <a:pPr marL="0" indent="0">
              <a:lnSpc>
                <a:spcPct val="105000"/>
              </a:lnSpc>
              <a:buNone/>
            </a:pPr>
            <a:r>
              <a:rPr lang="en-US" sz="2200" b="1" dirty="0">
                <a:solidFill>
                  <a:srgbClr val="3AD7F9"/>
                </a:solidFill>
                <a:latin typeface="Inter" pitchFamily="34" charset="0"/>
                <a:ea typeface="Inter" pitchFamily="34" charset="-122"/>
                <a:cs typeface="Inter" pitchFamily="34" charset="-120"/>
              </a:rPr>
              <a:t>04</a:t>
            </a:r>
            <a:endParaRPr lang="en-US" sz="2200" dirty="0"/>
          </a:p>
        </p:txBody>
      </p:sp>
      <p:sp>
        <p:nvSpPr>
          <p:cNvPr id="26" name="Text 24"/>
          <p:cNvSpPr/>
          <p:nvPr/>
        </p:nvSpPr>
        <p:spPr>
          <a:xfrm>
            <a:off x="9445752" y="2770632"/>
            <a:ext cx="2286000" cy="384048"/>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Изготовление</a:t>
            </a:r>
            <a:endParaRPr lang="en-US" sz="1800" dirty="0"/>
          </a:p>
        </p:txBody>
      </p:sp>
      <p:sp>
        <p:nvSpPr>
          <p:cNvPr id="27" name="Text 25"/>
          <p:cNvSpPr/>
          <p:nvPr/>
        </p:nvSpPr>
        <p:spPr>
          <a:xfrm>
            <a:off x="9445752" y="3273552"/>
            <a:ext cx="2313432" cy="51206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печать / ЧПУ / сборка</a:t>
            </a:r>
            <a:endParaRPr lang="en-US" sz="1200" dirty="0"/>
          </a:p>
        </p:txBody>
      </p:sp>
      <p:sp>
        <p:nvSpPr>
          <p:cNvPr id="28" name="Shape 26"/>
          <p:cNvSpPr/>
          <p:nvPr/>
        </p:nvSpPr>
        <p:spPr>
          <a:xfrm>
            <a:off x="566928" y="4361688"/>
            <a:ext cx="3218688" cy="1627632"/>
          </a:xfrm>
          <a:prstGeom prst="roundRect">
            <a:avLst>
              <a:gd name="adj" fmla="val 5618"/>
            </a:avLst>
          </a:prstGeom>
          <a:solidFill>
            <a:srgbClr val="193B54"/>
          </a:solidFill>
          <a:ln w="12700">
            <a:solidFill>
              <a:srgbClr val="193B54"/>
            </a:solidFill>
            <a:prstDash val="solid"/>
          </a:ln>
        </p:spPr>
        <p:txBody>
          <a:bodyPr/>
          <a:lstStyle/>
          <a:p>
            <a:endParaRPr/>
          </a:p>
        </p:txBody>
      </p:sp>
      <p:pic>
        <p:nvPicPr>
          <p:cNvPr id="29" name="Image 0" descr="/mnt/data/work_r2/slide_assets/printer_close.jpg"/>
          <p:cNvPicPr>
            <a:picLocks noChangeAspect="1"/>
          </p:cNvPicPr>
          <p:nvPr/>
        </p:nvPicPr>
        <p:blipFill>
          <a:blip r:embed="rId3"/>
          <a:stretch>
            <a:fillRect/>
          </a:stretch>
        </p:blipFill>
        <p:spPr>
          <a:xfrm>
            <a:off x="1183416" y="4361688"/>
            <a:ext cx="1985711" cy="1627632"/>
          </a:xfrm>
          <a:prstGeom prst="rect">
            <a:avLst/>
          </a:prstGeom>
        </p:spPr>
      </p:pic>
      <p:sp>
        <p:nvSpPr>
          <p:cNvPr id="30" name="Shape 27"/>
          <p:cNvSpPr/>
          <p:nvPr/>
        </p:nvSpPr>
        <p:spPr>
          <a:xfrm>
            <a:off x="4023360" y="4361688"/>
            <a:ext cx="3218688" cy="1627632"/>
          </a:xfrm>
          <a:prstGeom prst="roundRect">
            <a:avLst>
              <a:gd name="adj" fmla="val 5618"/>
            </a:avLst>
          </a:prstGeom>
          <a:solidFill>
            <a:srgbClr val="193B54"/>
          </a:solidFill>
          <a:ln w="12700">
            <a:solidFill>
              <a:srgbClr val="193B54"/>
            </a:solidFill>
            <a:prstDash val="solid"/>
          </a:ln>
        </p:spPr>
        <p:txBody>
          <a:bodyPr/>
          <a:lstStyle/>
          <a:p>
            <a:endParaRPr/>
          </a:p>
        </p:txBody>
      </p:sp>
      <p:pic>
        <p:nvPicPr>
          <p:cNvPr id="31" name="Image 1" descr="/mnt/data/work_r2/slide_assets/bench.jpg"/>
          <p:cNvPicPr>
            <a:picLocks noChangeAspect="1"/>
          </p:cNvPicPr>
          <p:nvPr/>
        </p:nvPicPr>
        <p:blipFill>
          <a:blip r:embed="rId4"/>
          <a:stretch>
            <a:fillRect/>
          </a:stretch>
        </p:blipFill>
        <p:spPr>
          <a:xfrm>
            <a:off x="4533881" y="4361688"/>
            <a:ext cx="2197647" cy="1627632"/>
          </a:xfrm>
          <a:prstGeom prst="rect">
            <a:avLst/>
          </a:prstGeom>
        </p:spPr>
      </p:pic>
      <p:sp>
        <p:nvSpPr>
          <p:cNvPr id="32" name="Shape 28"/>
          <p:cNvSpPr/>
          <p:nvPr/>
        </p:nvSpPr>
        <p:spPr>
          <a:xfrm>
            <a:off x="7461504" y="4361688"/>
            <a:ext cx="4114800" cy="1627632"/>
          </a:xfrm>
          <a:prstGeom prst="roundRect">
            <a:avLst>
              <a:gd name="adj" fmla="val 5618"/>
            </a:avLst>
          </a:prstGeom>
          <a:solidFill>
            <a:srgbClr val="193B54"/>
          </a:solidFill>
          <a:ln w="12700">
            <a:solidFill>
              <a:srgbClr val="193B54"/>
            </a:solidFill>
            <a:prstDash val="solid"/>
          </a:ln>
        </p:spPr>
        <p:txBody>
          <a:bodyPr/>
          <a:lstStyle/>
          <a:p>
            <a:endParaRPr/>
          </a:p>
        </p:txBody>
      </p:sp>
      <p:pic>
        <p:nvPicPr>
          <p:cNvPr id="33" name="Image 2" descr="/mnt/data/work_r2/slide_assets/solder.jpg"/>
          <p:cNvPicPr>
            <a:picLocks noChangeAspect="1"/>
          </p:cNvPicPr>
          <p:nvPr/>
        </p:nvPicPr>
        <p:blipFill>
          <a:blip r:embed="rId5"/>
          <a:stretch>
            <a:fillRect/>
          </a:stretch>
        </p:blipFill>
        <p:spPr>
          <a:xfrm>
            <a:off x="8420081" y="4361688"/>
            <a:ext cx="2197647" cy="1627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Колесо Ø65 и компактный кронштейн</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Инженерное ограничение: вал мотора выступает только на 12 мм.</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ХОДОВАЯ</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06 / 17</a:t>
            </a:r>
          </a:p>
        </p:txBody>
      </p:sp>
      <p:sp>
        <p:nvSpPr>
          <p:cNvPr id="9" name="Shape 7"/>
          <p:cNvSpPr/>
          <p:nvPr/>
        </p:nvSpPr>
        <p:spPr>
          <a:xfrm>
            <a:off x="475488" y="1746504"/>
            <a:ext cx="11173968" cy="2990088"/>
          </a:xfrm>
          <a:prstGeom prst="roundRect">
            <a:avLst>
              <a:gd name="adj" fmla="val 3670"/>
            </a:avLst>
          </a:prstGeom>
          <a:solidFill>
            <a:srgbClr val="F6FAFD"/>
          </a:solidFill>
          <a:ln w="12700">
            <a:solidFill>
              <a:srgbClr val="F6FAFD"/>
            </a:solidFill>
            <a:prstDash val="solid"/>
          </a:ln>
        </p:spPr>
        <p:txBody>
          <a:bodyPr/>
          <a:lstStyle/>
          <a:p>
            <a:endParaRPr/>
          </a:p>
        </p:txBody>
      </p:sp>
      <p:pic>
        <p:nvPicPr>
          <p:cNvPr id="10" name="Image 0" descr="/mnt/data/work_r2/R2D2-PIV/img/drive_mounts_wheel.png"/>
          <p:cNvPicPr>
            <a:picLocks noChangeAspect="1"/>
          </p:cNvPicPr>
          <p:nvPr/>
        </p:nvPicPr>
        <p:blipFill>
          <a:blip r:embed="rId3"/>
          <a:stretch>
            <a:fillRect/>
          </a:stretch>
        </p:blipFill>
        <p:spPr>
          <a:xfrm>
            <a:off x="1790918" y="1746504"/>
            <a:ext cx="8543109" cy="2990088"/>
          </a:xfrm>
          <a:prstGeom prst="rect">
            <a:avLst/>
          </a:prstGeom>
        </p:spPr>
      </p:pic>
      <p:sp>
        <p:nvSpPr>
          <p:cNvPr id="11" name="Shape 8"/>
          <p:cNvSpPr/>
          <p:nvPr/>
        </p:nvSpPr>
        <p:spPr>
          <a:xfrm>
            <a:off x="557784" y="4992624"/>
            <a:ext cx="2578608" cy="1124712"/>
          </a:xfrm>
          <a:prstGeom prst="roundRect">
            <a:avLst>
              <a:gd name="adj" fmla="val 11382"/>
            </a:avLst>
          </a:prstGeom>
          <a:solidFill>
            <a:srgbClr val="122D44"/>
          </a:solidFill>
          <a:ln w="12700">
            <a:solidFill>
              <a:srgbClr val="122D44"/>
            </a:solidFill>
            <a:prstDash val="solid"/>
          </a:ln>
        </p:spPr>
        <p:txBody>
          <a:bodyPr/>
          <a:lstStyle/>
          <a:p>
            <a:endParaRPr/>
          </a:p>
        </p:txBody>
      </p:sp>
      <p:sp>
        <p:nvSpPr>
          <p:cNvPr id="12" name="Text 9"/>
          <p:cNvSpPr/>
          <p:nvPr/>
        </p:nvSpPr>
        <p:spPr>
          <a:xfrm>
            <a:off x="685800" y="5129784"/>
            <a:ext cx="2258568" cy="44805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Ø65 мм</a:t>
            </a:r>
            <a:endParaRPr lang="en-US" sz="2300" dirty="0"/>
          </a:p>
        </p:txBody>
      </p:sp>
      <p:sp>
        <p:nvSpPr>
          <p:cNvPr id="13" name="Text 10"/>
          <p:cNvSpPr/>
          <p:nvPr/>
        </p:nvSpPr>
        <p:spPr>
          <a:xfrm>
            <a:off x="685800" y="5650992"/>
            <a:ext cx="2331720" cy="29260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печатное колесо</a:t>
            </a:r>
            <a:endParaRPr lang="en-US" sz="1100" dirty="0"/>
          </a:p>
        </p:txBody>
      </p:sp>
      <p:sp>
        <p:nvSpPr>
          <p:cNvPr id="14" name="Shape 11"/>
          <p:cNvSpPr/>
          <p:nvPr/>
        </p:nvSpPr>
        <p:spPr>
          <a:xfrm>
            <a:off x="3410712" y="4992624"/>
            <a:ext cx="2578608" cy="1124712"/>
          </a:xfrm>
          <a:prstGeom prst="roundRect">
            <a:avLst>
              <a:gd name="adj" fmla="val 11382"/>
            </a:avLst>
          </a:prstGeom>
          <a:solidFill>
            <a:srgbClr val="122D44"/>
          </a:solidFill>
          <a:ln w="12700">
            <a:solidFill>
              <a:srgbClr val="122D44"/>
            </a:solidFill>
            <a:prstDash val="solid"/>
          </a:ln>
        </p:spPr>
        <p:txBody>
          <a:bodyPr/>
          <a:lstStyle/>
          <a:p>
            <a:endParaRPr/>
          </a:p>
        </p:txBody>
      </p:sp>
      <p:sp>
        <p:nvSpPr>
          <p:cNvPr id="15" name="Text 12"/>
          <p:cNvSpPr/>
          <p:nvPr/>
        </p:nvSpPr>
        <p:spPr>
          <a:xfrm>
            <a:off x="3538728" y="5129784"/>
            <a:ext cx="2258568" cy="44805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3 мм</a:t>
            </a:r>
            <a:endParaRPr lang="en-US" sz="2300" dirty="0"/>
          </a:p>
        </p:txBody>
      </p:sp>
      <p:sp>
        <p:nvSpPr>
          <p:cNvPr id="16" name="Text 13"/>
          <p:cNvSpPr/>
          <p:nvPr/>
        </p:nvSpPr>
        <p:spPr>
          <a:xfrm>
            <a:off x="3538728" y="5650992"/>
            <a:ext cx="2331720" cy="29260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стенка кронштейна</a:t>
            </a:r>
            <a:endParaRPr lang="en-US" sz="1100" dirty="0"/>
          </a:p>
        </p:txBody>
      </p:sp>
      <p:sp>
        <p:nvSpPr>
          <p:cNvPr id="17" name="Shape 14"/>
          <p:cNvSpPr/>
          <p:nvPr/>
        </p:nvSpPr>
        <p:spPr>
          <a:xfrm>
            <a:off x="6263640" y="4992624"/>
            <a:ext cx="2578608" cy="1124712"/>
          </a:xfrm>
          <a:prstGeom prst="roundRect">
            <a:avLst>
              <a:gd name="adj" fmla="val 11382"/>
            </a:avLst>
          </a:prstGeom>
          <a:solidFill>
            <a:srgbClr val="122D44"/>
          </a:solidFill>
          <a:ln w="12700">
            <a:solidFill>
              <a:srgbClr val="122D44"/>
            </a:solidFill>
            <a:prstDash val="solid"/>
          </a:ln>
        </p:spPr>
        <p:txBody>
          <a:bodyPr/>
          <a:lstStyle/>
          <a:p>
            <a:endParaRPr/>
          </a:p>
        </p:txBody>
      </p:sp>
      <p:sp>
        <p:nvSpPr>
          <p:cNvPr id="18" name="Text 15"/>
          <p:cNvSpPr/>
          <p:nvPr/>
        </p:nvSpPr>
        <p:spPr>
          <a:xfrm>
            <a:off x="6391656" y="5129784"/>
            <a:ext cx="2258568" cy="44805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≈9 мм</a:t>
            </a:r>
            <a:endParaRPr lang="en-US" sz="2300" dirty="0"/>
          </a:p>
        </p:txBody>
      </p:sp>
      <p:sp>
        <p:nvSpPr>
          <p:cNvPr id="19" name="Text 16"/>
          <p:cNvSpPr/>
          <p:nvPr/>
        </p:nvSpPr>
        <p:spPr>
          <a:xfrm>
            <a:off x="6391656" y="5650992"/>
            <a:ext cx="2331720" cy="29260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рабочая длина вала</a:t>
            </a:r>
            <a:endParaRPr lang="en-US" sz="1100" dirty="0"/>
          </a:p>
        </p:txBody>
      </p:sp>
      <p:sp>
        <p:nvSpPr>
          <p:cNvPr id="20" name="Shape 17"/>
          <p:cNvSpPr/>
          <p:nvPr/>
        </p:nvSpPr>
        <p:spPr>
          <a:xfrm>
            <a:off x="9116568" y="4992624"/>
            <a:ext cx="2578608" cy="1124712"/>
          </a:xfrm>
          <a:prstGeom prst="roundRect">
            <a:avLst>
              <a:gd name="adj" fmla="val 11382"/>
            </a:avLst>
          </a:prstGeom>
          <a:solidFill>
            <a:srgbClr val="122D44"/>
          </a:solidFill>
          <a:ln w="12700">
            <a:solidFill>
              <a:srgbClr val="122D44"/>
            </a:solidFill>
            <a:prstDash val="solid"/>
          </a:ln>
        </p:spPr>
        <p:txBody>
          <a:bodyPr/>
          <a:lstStyle/>
          <a:p>
            <a:endParaRPr/>
          </a:p>
        </p:txBody>
      </p:sp>
      <p:sp>
        <p:nvSpPr>
          <p:cNvPr id="21" name="Text 18"/>
          <p:cNvSpPr/>
          <p:nvPr/>
        </p:nvSpPr>
        <p:spPr>
          <a:xfrm>
            <a:off x="9244584" y="5129784"/>
            <a:ext cx="2258568" cy="44805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168 мм</a:t>
            </a:r>
            <a:endParaRPr lang="en-US" sz="2300" dirty="0"/>
          </a:p>
        </p:txBody>
      </p:sp>
      <p:sp>
        <p:nvSpPr>
          <p:cNvPr id="22" name="Text 19"/>
          <p:cNvSpPr/>
          <p:nvPr/>
        </p:nvSpPr>
        <p:spPr>
          <a:xfrm>
            <a:off x="9244584" y="5650992"/>
            <a:ext cx="2331720" cy="29260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колея</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Опора держит. Ноги танцуют.</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Функции разделены — меньше нагрузки на приводы MG995.</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УСТОЙЧИВОСТЬ И ТАНЕЦ</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07 / 17</a:t>
            </a:r>
          </a:p>
        </p:txBody>
      </p:sp>
      <p:sp>
        <p:nvSpPr>
          <p:cNvPr id="9" name="Shape 7"/>
          <p:cNvSpPr/>
          <p:nvPr/>
        </p:nvSpPr>
        <p:spPr>
          <a:xfrm>
            <a:off x="521208" y="1801368"/>
            <a:ext cx="5559552" cy="4480560"/>
          </a:xfrm>
          <a:prstGeom prst="roundRect">
            <a:avLst>
              <a:gd name="adj" fmla="val 2857"/>
            </a:avLst>
          </a:prstGeom>
          <a:solidFill>
            <a:srgbClr val="122D44"/>
          </a:solidFill>
          <a:ln w="12700">
            <a:solidFill>
              <a:srgbClr val="122D44"/>
            </a:solidFill>
            <a:prstDash val="solid"/>
          </a:ln>
        </p:spPr>
        <p:txBody>
          <a:bodyPr/>
          <a:lstStyle/>
          <a:p>
            <a:endParaRPr/>
          </a:p>
        </p:txBody>
      </p:sp>
      <p:sp>
        <p:nvSpPr>
          <p:cNvPr id="10" name="Shape 8"/>
          <p:cNvSpPr/>
          <p:nvPr/>
        </p:nvSpPr>
        <p:spPr>
          <a:xfrm>
            <a:off x="6291072" y="1801368"/>
            <a:ext cx="5394960" cy="4480560"/>
          </a:xfrm>
          <a:prstGeom prst="roundRect">
            <a:avLst>
              <a:gd name="adj" fmla="val 2857"/>
            </a:avLst>
          </a:prstGeom>
          <a:solidFill>
            <a:srgbClr val="122D44"/>
          </a:solidFill>
          <a:ln w="12700">
            <a:solidFill>
              <a:srgbClr val="122D44"/>
            </a:solidFill>
            <a:prstDash val="solid"/>
          </a:ln>
        </p:spPr>
        <p:txBody>
          <a:bodyPr/>
          <a:lstStyle/>
          <a:p>
            <a:endParaRPr/>
          </a:p>
        </p:txBody>
      </p:sp>
      <p:sp>
        <p:nvSpPr>
          <p:cNvPr id="11" name="Text 9"/>
          <p:cNvSpPr/>
          <p:nvPr/>
        </p:nvSpPr>
        <p:spPr>
          <a:xfrm>
            <a:off x="804672" y="1956816"/>
            <a:ext cx="384048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ТРЕТЬЯ ОПОРА</a:t>
            </a:r>
            <a:endParaRPr lang="en-US" sz="900" dirty="0"/>
          </a:p>
        </p:txBody>
      </p:sp>
      <p:sp>
        <p:nvSpPr>
          <p:cNvPr id="12" name="Text 10"/>
          <p:cNvSpPr/>
          <p:nvPr/>
        </p:nvSpPr>
        <p:spPr>
          <a:xfrm>
            <a:off x="6547104" y="1956816"/>
            <a:ext cx="384048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НОГИ / MG995</a:t>
            </a:r>
            <a:endParaRPr lang="en-US" sz="900" dirty="0"/>
          </a:p>
        </p:txBody>
      </p:sp>
      <p:sp>
        <p:nvSpPr>
          <p:cNvPr id="13" name="Shape 11"/>
          <p:cNvSpPr/>
          <p:nvPr/>
        </p:nvSpPr>
        <p:spPr>
          <a:xfrm>
            <a:off x="740664" y="2414016"/>
            <a:ext cx="5120640" cy="2404872"/>
          </a:xfrm>
          <a:prstGeom prst="roundRect">
            <a:avLst>
              <a:gd name="adj" fmla="val 4563"/>
            </a:avLst>
          </a:prstGeom>
          <a:solidFill>
            <a:srgbClr val="F6FAFD"/>
          </a:solidFill>
          <a:ln w="12700">
            <a:solidFill>
              <a:srgbClr val="F6FAFD"/>
            </a:solidFill>
            <a:prstDash val="solid"/>
          </a:ln>
        </p:spPr>
        <p:txBody>
          <a:bodyPr/>
          <a:lstStyle/>
          <a:p>
            <a:endParaRPr/>
          </a:p>
        </p:txBody>
      </p:sp>
      <p:pic>
        <p:nvPicPr>
          <p:cNvPr id="14" name="Image 0" descr="/mnt/data/work_r2/R2D2-PIV/img/skid_metal_drawing.png"/>
          <p:cNvPicPr>
            <a:picLocks noChangeAspect="1"/>
          </p:cNvPicPr>
          <p:nvPr/>
        </p:nvPicPr>
        <p:blipFill>
          <a:blip r:embed="rId3"/>
          <a:stretch>
            <a:fillRect/>
          </a:stretch>
        </p:blipFill>
        <p:spPr>
          <a:xfrm>
            <a:off x="740664" y="2486899"/>
            <a:ext cx="5120640" cy="2259106"/>
          </a:xfrm>
          <a:prstGeom prst="rect">
            <a:avLst/>
          </a:prstGeom>
        </p:spPr>
      </p:pic>
      <p:sp>
        <p:nvSpPr>
          <p:cNvPr id="15" name="Shape 12"/>
          <p:cNvSpPr/>
          <p:nvPr/>
        </p:nvSpPr>
        <p:spPr>
          <a:xfrm>
            <a:off x="6510528" y="2414016"/>
            <a:ext cx="4956048" cy="2404872"/>
          </a:xfrm>
          <a:prstGeom prst="roundRect">
            <a:avLst>
              <a:gd name="adj" fmla="val 4563"/>
            </a:avLst>
          </a:prstGeom>
          <a:solidFill>
            <a:srgbClr val="F6FAFD"/>
          </a:solidFill>
          <a:ln w="12700">
            <a:solidFill>
              <a:srgbClr val="F6FAFD"/>
            </a:solidFill>
            <a:prstDash val="solid"/>
          </a:ln>
        </p:spPr>
        <p:txBody>
          <a:bodyPr/>
          <a:lstStyle/>
          <a:p>
            <a:endParaRPr/>
          </a:p>
        </p:txBody>
      </p:sp>
      <p:pic>
        <p:nvPicPr>
          <p:cNvPr id="16" name="Image 1" descr="/mnt/data/work_r2/R2D2-PIV/img/legs_55.png"/>
          <p:cNvPicPr>
            <a:picLocks noChangeAspect="1"/>
          </p:cNvPicPr>
          <p:nvPr/>
        </p:nvPicPr>
        <p:blipFill>
          <a:blip r:embed="rId4"/>
          <a:stretch>
            <a:fillRect/>
          </a:stretch>
        </p:blipFill>
        <p:spPr>
          <a:xfrm>
            <a:off x="6510528" y="2596089"/>
            <a:ext cx="4956048" cy="2040726"/>
          </a:xfrm>
          <a:prstGeom prst="rect">
            <a:avLst/>
          </a:prstGeom>
        </p:spPr>
      </p:pic>
      <p:sp>
        <p:nvSpPr>
          <p:cNvPr id="17" name="Text 13"/>
          <p:cNvSpPr/>
          <p:nvPr/>
        </p:nvSpPr>
        <p:spPr>
          <a:xfrm>
            <a:off x="795528" y="4992624"/>
            <a:ext cx="4974336" cy="530352"/>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F6FAFD"/>
                </a:solidFill>
                <a:latin typeface="Inter" pitchFamily="34" charset="0"/>
                <a:ea typeface="Inter" pitchFamily="34" charset="-122"/>
                <a:cs typeface="Inter" pitchFamily="34" charset="-120"/>
              </a:rPr>
              <a:t>Стальной уголок + две полосы оргстекла</a:t>
            </a:r>
            <a:endParaRPr lang="en-US" sz="1700" dirty="0"/>
          </a:p>
        </p:txBody>
      </p:sp>
      <p:sp>
        <p:nvSpPr>
          <p:cNvPr id="18" name="Text 14"/>
          <p:cNvSpPr/>
          <p:nvPr/>
        </p:nvSpPr>
        <p:spPr>
          <a:xfrm>
            <a:off x="795528" y="5577840"/>
            <a:ext cx="4882896" cy="32918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3AD7F9"/>
                </a:solidFill>
                <a:latin typeface="Inter" pitchFamily="34" charset="0"/>
                <a:ea typeface="Inter" pitchFamily="34" charset="-122"/>
                <a:cs typeface="Inter" pitchFamily="34" charset="-120"/>
              </a:rPr>
              <a:t>Регулировка высоты ±5 мм</a:t>
            </a:r>
            <a:endParaRPr lang="en-US" sz="1200" dirty="0"/>
          </a:p>
        </p:txBody>
      </p:sp>
      <p:sp>
        <p:nvSpPr>
          <p:cNvPr id="19" name="Text 15"/>
          <p:cNvSpPr/>
          <p:nvPr/>
        </p:nvSpPr>
        <p:spPr>
          <a:xfrm>
            <a:off x="6556248" y="4992624"/>
            <a:ext cx="4681728" cy="530352"/>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F6FAFD"/>
                </a:solidFill>
                <a:latin typeface="Inter" pitchFamily="34" charset="0"/>
                <a:ea typeface="Inter" pitchFamily="34" charset="-122"/>
                <a:cs typeface="Inter" pitchFamily="34" charset="-120"/>
              </a:rPr>
              <a:t>Декоративная нога длиной 55 мм</a:t>
            </a:r>
            <a:endParaRPr lang="en-US" sz="1700" dirty="0"/>
          </a:p>
        </p:txBody>
      </p:sp>
      <p:sp>
        <p:nvSpPr>
          <p:cNvPr id="20" name="Text 16"/>
          <p:cNvSpPr/>
          <p:nvPr/>
        </p:nvSpPr>
        <p:spPr>
          <a:xfrm>
            <a:off x="6556248" y="5577840"/>
            <a:ext cx="4700016" cy="329184"/>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3AD7F9"/>
                </a:solidFill>
                <a:latin typeface="Inter" pitchFamily="34" charset="0"/>
                <a:ea typeface="Inter" pitchFamily="34" charset="-122"/>
                <a:cs typeface="Inter" pitchFamily="34" charset="-120"/>
              </a:rPr>
              <a:t>Проектный зазор до пола ≥27 мм</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Точное вращение без проскальзывания</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Внутренний зубчатый венец заменил фрикционную передачу.</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МЕХАНИЗМ ГОЛОВЫ</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08 / 17</a:t>
            </a:r>
          </a:p>
        </p:txBody>
      </p:sp>
      <p:sp>
        <p:nvSpPr>
          <p:cNvPr id="9" name="Shape 7"/>
          <p:cNvSpPr/>
          <p:nvPr/>
        </p:nvSpPr>
        <p:spPr>
          <a:xfrm>
            <a:off x="512064" y="1746504"/>
            <a:ext cx="4718304" cy="4462272"/>
          </a:xfrm>
          <a:prstGeom prst="roundRect">
            <a:avLst>
              <a:gd name="adj" fmla="val 2459"/>
            </a:avLst>
          </a:prstGeom>
          <a:solidFill>
            <a:srgbClr val="F6FAFD"/>
          </a:solidFill>
          <a:ln w="12700">
            <a:solidFill>
              <a:srgbClr val="F6FAFD"/>
            </a:solidFill>
            <a:prstDash val="solid"/>
          </a:ln>
        </p:spPr>
        <p:txBody>
          <a:bodyPr/>
          <a:lstStyle/>
          <a:p>
            <a:endParaRPr/>
          </a:p>
        </p:txBody>
      </p:sp>
      <p:pic>
        <p:nvPicPr>
          <p:cNvPr id="10" name="Image 0" descr="/mnt/data/work_r2/R2D2-PIV/img/head_r5_mechanism.png"/>
          <p:cNvPicPr>
            <a:picLocks noChangeAspect="1"/>
          </p:cNvPicPr>
          <p:nvPr/>
        </p:nvPicPr>
        <p:blipFill>
          <a:blip r:embed="rId3"/>
          <a:stretch>
            <a:fillRect/>
          </a:stretch>
        </p:blipFill>
        <p:spPr>
          <a:xfrm>
            <a:off x="1039252" y="1746504"/>
            <a:ext cx="3663927" cy="4462272"/>
          </a:xfrm>
          <a:prstGeom prst="rect">
            <a:avLst/>
          </a:prstGeom>
        </p:spPr>
      </p:pic>
      <p:sp>
        <p:nvSpPr>
          <p:cNvPr id="11" name="Shape 8"/>
          <p:cNvSpPr/>
          <p:nvPr/>
        </p:nvSpPr>
        <p:spPr>
          <a:xfrm>
            <a:off x="5513832" y="1883664"/>
            <a:ext cx="2743200" cy="1664208"/>
          </a:xfrm>
          <a:prstGeom prst="roundRect">
            <a:avLst>
              <a:gd name="adj" fmla="val 7692"/>
            </a:avLst>
          </a:prstGeom>
          <a:solidFill>
            <a:srgbClr val="122D44"/>
          </a:solidFill>
          <a:ln w="12700">
            <a:solidFill>
              <a:srgbClr val="122D44"/>
            </a:solidFill>
            <a:prstDash val="solid"/>
          </a:ln>
        </p:spPr>
        <p:txBody>
          <a:bodyPr/>
          <a:lstStyle/>
          <a:p>
            <a:endParaRPr/>
          </a:p>
        </p:txBody>
      </p:sp>
      <p:sp>
        <p:nvSpPr>
          <p:cNvPr id="12" name="Text 9"/>
          <p:cNvSpPr/>
          <p:nvPr/>
        </p:nvSpPr>
        <p:spPr>
          <a:xfrm>
            <a:off x="5687568" y="2057400"/>
            <a:ext cx="2368296" cy="521208"/>
          </a:xfrm>
          <a:prstGeom prst="rect">
            <a:avLst/>
          </a:prstGeom>
          <a:noFill/>
          <a:ln/>
        </p:spPr>
        <p:txBody>
          <a:bodyPr wrap="none" lIns="0" tIns="0" rIns="0" bIns="0" rtlCol="0" anchor="ctr">
            <a:normAutofit/>
          </a:bodyPr>
          <a:lstStyle/>
          <a:p>
            <a:pPr algn="r"/>
            <a:r>
              <a:rPr sz="910" b="1">
                <a:solidFill>
                  <a:srgbClr val="3AD7F9"/>
                </a:solidFill>
                <a:latin typeface="Inter"/>
              </a:rPr>
              <a:t>08 / 17</a:t>
            </a:r>
          </a:p>
        </p:txBody>
      </p:sp>
      <p:sp>
        <p:nvSpPr>
          <p:cNvPr id="13" name="Text 10"/>
          <p:cNvSpPr/>
          <p:nvPr/>
        </p:nvSpPr>
        <p:spPr>
          <a:xfrm>
            <a:off x="5687568" y="2788920"/>
            <a:ext cx="2404872" cy="566928"/>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зубьев короны и шестерни</a:t>
            </a:r>
            <a:endParaRPr lang="en-US" sz="1200" dirty="0"/>
          </a:p>
        </p:txBody>
      </p:sp>
      <p:sp>
        <p:nvSpPr>
          <p:cNvPr id="14" name="Shape 11"/>
          <p:cNvSpPr/>
          <p:nvPr/>
        </p:nvSpPr>
        <p:spPr>
          <a:xfrm>
            <a:off x="8522208" y="1883664"/>
            <a:ext cx="2743200" cy="1664208"/>
          </a:xfrm>
          <a:prstGeom prst="roundRect">
            <a:avLst>
              <a:gd name="adj" fmla="val 7692"/>
            </a:avLst>
          </a:prstGeom>
          <a:solidFill>
            <a:srgbClr val="122D44"/>
          </a:solidFill>
          <a:ln w="12700">
            <a:solidFill>
              <a:srgbClr val="122D44"/>
            </a:solidFill>
            <a:prstDash val="solid"/>
          </a:ln>
        </p:spPr>
        <p:txBody>
          <a:bodyPr/>
          <a:lstStyle/>
          <a:p>
            <a:endParaRPr/>
          </a:p>
        </p:txBody>
      </p:sp>
      <p:sp>
        <p:nvSpPr>
          <p:cNvPr id="15" name="Text 12"/>
          <p:cNvSpPr/>
          <p:nvPr/>
        </p:nvSpPr>
        <p:spPr>
          <a:xfrm>
            <a:off x="8695944" y="2057400"/>
            <a:ext cx="2368296" cy="521208"/>
          </a:xfrm>
          <a:prstGeom prst="rect">
            <a:avLst/>
          </a:prstGeom>
          <a:noFill/>
          <a:ln/>
        </p:spPr>
        <p:txBody>
          <a:bodyPr wrap="square" lIns="0" tIns="0" rIns="0" bIns="0" rtlCol="0" anchor="ctr">
            <a:normAutofit/>
          </a:bodyPr>
          <a:lstStyle/>
          <a:p>
            <a:pPr marL="0" indent="0">
              <a:lnSpc>
                <a:spcPct val="105000"/>
              </a:lnSpc>
              <a:buNone/>
            </a:pPr>
            <a:r>
              <a:rPr lang="en-US" sz="2800" b="1" dirty="0">
                <a:solidFill>
                  <a:srgbClr val="3AD7F9"/>
                </a:solidFill>
                <a:latin typeface="Inter" pitchFamily="34" charset="0"/>
                <a:ea typeface="Inter" pitchFamily="34" charset="-122"/>
                <a:cs typeface="Inter" pitchFamily="34" charset="-120"/>
              </a:rPr>
              <a:t>5,5 : 1</a:t>
            </a:r>
            <a:endParaRPr lang="en-US" sz="2800" dirty="0"/>
          </a:p>
        </p:txBody>
      </p:sp>
      <p:sp>
        <p:nvSpPr>
          <p:cNvPr id="16" name="Text 13"/>
          <p:cNvSpPr/>
          <p:nvPr/>
        </p:nvSpPr>
        <p:spPr>
          <a:xfrm>
            <a:off x="8695944" y="2788920"/>
            <a:ext cx="2404872" cy="566928"/>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передаточное отношение</a:t>
            </a:r>
            <a:endParaRPr lang="en-US" sz="1200" dirty="0"/>
          </a:p>
        </p:txBody>
      </p:sp>
      <p:sp>
        <p:nvSpPr>
          <p:cNvPr id="17" name="Shape 14"/>
          <p:cNvSpPr/>
          <p:nvPr/>
        </p:nvSpPr>
        <p:spPr>
          <a:xfrm>
            <a:off x="5513832" y="3822192"/>
            <a:ext cx="2743200" cy="1664208"/>
          </a:xfrm>
          <a:prstGeom prst="roundRect">
            <a:avLst>
              <a:gd name="adj" fmla="val 7692"/>
            </a:avLst>
          </a:prstGeom>
          <a:solidFill>
            <a:srgbClr val="122D44"/>
          </a:solidFill>
          <a:ln w="12700">
            <a:solidFill>
              <a:srgbClr val="122D44"/>
            </a:solidFill>
            <a:prstDash val="solid"/>
          </a:ln>
        </p:spPr>
        <p:txBody>
          <a:bodyPr/>
          <a:lstStyle/>
          <a:p>
            <a:endParaRPr/>
          </a:p>
        </p:txBody>
      </p:sp>
      <p:sp>
        <p:nvSpPr>
          <p:cNvPr id="18" name="Text 15"/>
          <p:cNvSpPr/>
          <p:nvPr/>
        </p:nvSpPr>
        <p:spPr>
          <a:xfrm>
            <a:off x="5687568" y="3995928"/>
            <a:ext cx="2368296" cy="521208"/>
          </a:xfrm>
          <a:prstGeom prst="rect">
            <a:avLst/>
          </a:prstGeom>
          <a:noFill/>
          <a:ln/>
        </p:spPr>
        <p:txBody>
          <a:bodyPr wrap="square" lIns="0" tIns="0" rIns="0" bIns="0" rtlCol="0" anchor="ctr">
            <a:normAutofit/>
          </a:bodyPr>
          <a:lstStyle/>
          <a:p>
            <a:pPr marL="0" indent="0">
              <a:lnSpc>
                <a:spcPct val="105000"/>
              </a:lnSpc>
              <a:buNone/>
            </a:pPr>
            <a:r>
              <a:rPr lang="en-US" sz="2800" b="1" dirty="0">
                <a:solidFill>
                  <a:srgbClr val="3AD7F9"/>
                </a:solidFill>
                <a:latin typeface="Inter" pitchFamily="34" charset="0"/>
                <a:ea typeface="Inter" pitchFamily="34" charset="-122"/>
                <a:cs typeface="Inter" pitchFamily="34" charset="-120"/>
              </a:rPr>
              <a:t>Ø190</a:t>
            </a:r>
            <a:endParaRPr lang="en-US" sz="2800" dirty="0"/>
          </a:p>
        </p:txBody>
      </p:sp>
      <p:sp>
        <p:nvSpPr>
          <p:cNvPr id="19" name="Text 16"/>
          <p:cNvSpPr/>
          <p:nvPr/>
        </p:nvSpPr>
        <p:spPr>
          <a:xfrm>
            <a:off x="5687568" y="4727448"/>
            <a:ext cx="2404872" cy="566928"/>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диаметр печатной короны</a:t>
            </a:r>
            <a:endParaRPr lang="en-US" sz="1200" dirty="0"/>
          </a:p>
        </p:txBody>
      </p:sp>
      <p:sp>
        <p:nvSpPr>
          <p:cNvPr id="20" name="Shape 17"/>
          <p:cNvSpPr/>
          <p:nvPr/>
        </p:nvSpPr>
        <p:spPr>
          <a:xfrm>
            <a:off x="8522208" y="3822192"/>
            <a:ext cx="2743200" cy="1664208"/>
          </a:xfrm>
          <a:prstGeom prst="roundRect">
            <a:avLst>
              <a:gd name="adj" fmla="val 7692"/>
            </a:avLst>
          </a:prstGeom>
          <a:solidFill>
            <a:srgbClr val="122D44"/>
          </a:solidFill>
          <a:ln w="12700">
            <a:solidFill>
              <a:srgbClr val="122D44"/>
            </a:solidFill>
            <a:prstDash val="solid"/>
          </a:ln>
        </p:spPr>
        <p:txBody>
          <a:bodyPr/>
          <a:lstStyle/>
          <a:p>
            <a:endParaRPr/>
          </a:p>
        </p:txBody>
      </p:sp>
      <p:sp>
        <p:nvSpPr>
          <p:cNvPr id="21" name="Text 18"/>
          <p:cNvSpPr/>
          <p:nvPr/>
        </p:nvSpPr>
        <p:spPr>
          <a:xfrm>
            <a:off x="8695944" y="3995928"/>
            <a:ext cx="2368296" cy="521208"/>
          </a:xfrm>
          <a:prstGeom prst="rect">
            <a:avLst/>
          </a:prstGeom>
          <a:noFill/>
          <a:ln/>
        </p:spPr>
        <p:txBody>
          <a:bodyPr wrap="square" lIns="0" tIns="0" rIns="0" bIns="0" rtlCol="0" anchor="ctr">
            <a:normAutofit/>
          </a:bodyPr>
          <a:lstStyle/>
          <a:p>
            <a:pPr marL="0" indent="0">
              <a:lnSpc>
                <a:spcPct val="105000"/>
              </a:lnSpc>
              <a:buNone/>
            </a:pPr>
            <a:r>
              <a:rPr lang="en-US" sz="2800" b="1" dirty="0">
                <a:solidFill>
                  <a:srgbClr val="3AD7F9"/>
                </a:solidFill>
                <a:latin typeface="Inter" pitchFamily="34" charset="0"/>
                <a:ea typeface="Inter" pitchFamily="34" charset="-122"/>
                <a:cs typeface="Inter" pitchFamily="34" charset="-120"/>
              </a:rPr>
              <a:t>6000</a:t>
            </a:r>
            <a:endParaRPr lang="en-US" sz="2800" dirty="0"/>
          </a:p>
        </p:txBody>
      </p:sp>
      <p:sp>
        <p:nvSpPr>
          <p:cNvPr id="22" name="Text 19"/>
          <p:cNvSpPr/>
          <p:nvPr/>
        </p:nvSpPr>
        <p:spPr>
          <a:xfrm>
            <a:off x="8695944" y="4727448"/>
            <a:ext cx="2404872" cy="566928"/>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AFC6D8"/>
                </a:solidFill>
                <a:latin typeface="Inter" pitchFamily="34" charset="0"/>
                <a:ea typeface="Inter" pitchFamily="34" charset="-122"/>
                <a:cs typeface="Inter" pitchFamily="34" charset="-120"/>
              </a:rPr>
              <a:t>подшипник центровочной оси</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Танец как программа из блоков</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Сценарий меняется комбинацией команд, длительностей и пауз.</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УПРАВЛЕНИЕ</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10 / 17</a:t>
            </a:r>
          </a:p>
        </p:txBody>
      </p:sp>
      <p:sp>
        <p:nvSpPr>
          <p:cNvPr id="9" name="Shape 7"/>
          <p:cNvSpPr/>
          <p:nvPr/>
        </p:nvSpPr>
        <p:spPr>
          <a:xfrm>
            <a:off x="521208" y="2011680"/>
            <a:ext cx="211226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10" name="Text 8"/>
          <p:cNvSpPr/>
          <p:nvPr/>
        </p:nvSpPr>
        <p:spPr>
          <a:xfrm>
            <a:off x="640080" y="2185416"/>
            <a:ext cx="1892808" cy="301752"/>
          </a:xfrm>
          <a:prstGeom prst="rect">
            <a:avLst/>
          </a:prstGeom>
          <a:noFill/>
          <a:ln/>
        </p:spPr>
        <p:txBody>
          <a:bodyPr wrap="square" lIns="0" tIns="0" rIns="0" bIns="0" rtlCol="0" anchor="ctr">
            <a:normAutofit/>
          </a:bodyPr>
          <a:lstStyle/>
          <a:p>
            <a:pPr marL="0" indent="0">
              <a:lnSpc>
                <a:spcPct val="105000"/>
              </a:lnSpc>
              <a:buNone/>
            </a:pPr>
            <a:r>
              <a:rPr lang="en-US" sz="1200" b="1" dirty="0">
                <a:solidFill>
                  <a:srgbClr val="F6FAFD"/>
                </a:solidFill>
                <a:latin typeface="Inter" pitchFamily="34" charset="0"/>
                <a:ea typeface="Inter" pitchFamily="34" charset="-122"/>
                <a:cs typeface="Inter" pitchFamily="34" charset="-120"/>
              </a:rPr>
              <a:t>ВПЕРЁД</a:t>
            </a:r>
            <a:endParaRPr lang="en-US" sz="1200" dirty="0"/>
          </a:p>
        </p:txBody>
      </p:sp>
      <p:sp>
        <p:nvSpPr>
          <p:cNvPr id="11" name="Text 9"/>
          <p:cNvSpPr/>
          <p:nvPr/>
        </p:nvSpPr>
        <p:spPr>
          <a:xfrm>
            <a:off x="640080" y="2587752"/>
            <a:ext cx="1892808" cy="256032"/>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3AD7F9"/>
                </a:solidFill>
                <a:latin typeface="Inter" pitchFamily="34" charset="0"/>
                <a:ea typeface="Inter" pitchFamily="34" charset="-122"/>
                <a:cs typeface="Inter" pitchFamily="34" charset="-120"/>
              </a:rPr>
              <a:t>M1 + M2</a:t>
            </a:r>
            <a:endParaRPr lang="en-US" sz="1100" dirty="0"/>
          </a:p>
        </p:txBody>
      </p:sp>
      <p:sp>
        <p:nvSpPr>
          <p:cNvPr id="12" name="Text 10"/>
          <p:cNvSpPr/>
          <p:nvPr/>
        </p:nvSpPr>
        <p:spPr>
          <a:xfrm>
            <a:off x="2660904" y="2359152"/>
            <a:ext cx="173736" cy="329184"/>
          </a:xfrm>
          <a:prstGeom prst="rect">
            <a:avLst/>
          </a:prstGeom>
          <a:noFill/>
          <a:ln/>
        </p:spPr>
        <p:txBody>
          <a:bodyPr wrap="square" lIns="0" tIns="0" rIns="0" bIns="0" rtlCol="0" anchor="ctr">
            <a:normAutofit/>
          </a:bodyPr>
          <a:lstStyle/>
          <a:p>
            <a:pPr marL="0" indent="0">
              <a:lnSpc>
                <a:spcPct val="105000"/>
              </a:lnSpc>
              <a:buNone/>
            </a:pPr>
            <a:r>
              <a:rPr lang="en-US" sz="1800" dirty="0">
                <a:solidFill>
                  <a:srgbClr val="3AD7F9"/>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2852928" y="2011680"/>
            <a:ext cx="211226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14" name="Text 12"/>
          <p:cNvSpPr/>
          <p:nvPr/>
        </p:nvSpPr>
        <p:spPr>
          <a:xfrm>
            <a:off x="2971800" y="2185416"/>
            <a:ext cx="1892808" cy="301752"/>
          </a:xfrm>
          <a:prstGeom prst="rect">
            <a:avLst/>
          </a:prstGeom>
          <a:noFill/>
          <a:ln/>
        </p:spPr>
        <p:txBody>
          <a:bodyPr wrap="square" lIns="0" tIns="0" rIns="0" bIns="0" rtlCol="0" anchor="ctr">
            <a:normAutofit/>
          </a:bodyPr>
          <a:lstStyle/>
          <a:p>
            <a:pPr marL="0" indent="0">
              <a:lnSpc>
                <a:spcPct val="105000"/>
              </a:lnSpc>
              <a:buNone/>
            </a:pPr>
            <a:r>
              <a:rPr lang="en-US" sz="1200" b="1" dirty="0">
                <a:solidFill>
                  <a:srgbClr val="F6FAFD"/>
                </a:solidFill>
                <a:latin typeface="Inter" pitchFamily="34" charset="0"/>
                <a:ea typeface="Inter" pitchFamily="34" charset="-122"/>
                <a:cs typeface="Inter" pitchFamily="34" charset="-120"/>
              </a:rPr>
              <a:t>РАЗВОРОТ</a:t>
            </a:r>
            <a:endParaRPr lang="en-US" sz="1200" dirty="0"/>
          </a:p>
        </p:txBody>
      </p:sp>
      <p:sp>
        <p:nvSpPr>
          <p:cNvPr id="15" name="Text 13"/>
          <p:cNvSpPr/>
          <p:nvPr/>
        </p:nvSpPr>
        <p:spPr>
          <a:xfrm>
            <a:off x="2971800" y="2587752"/>
            <a:ext cx="1892808" cy="256032"/>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3AD7F9"/>
                </a:solidFill>
                <a:latin typeface="Inter" pitchFamily="34" charset="0"/>
                <a:ea typeface="Inter" pitchFamily="34" charset="-122"/>
                <a:cs typeface="Inter" pitchFamily="34" charset="-120"/>
              </a:rPr>
              <a:t>M1 − M2</a:t>
            </a:r>
            <a:endParaRPr lang="en-US" sz="1100" dirty="0"/>
          </a:p>
        </p:txBody>
      </p:sp>
      <p:sp>
        <p:nvSpPr>
          <p:cNvPr id="16" name="Text 14"/>
          <p:cNvSpPr/>
          <p:nvPr/>
        </p:nvSpPr>
        <p:spPr>
          <a:xfrm>
            <a:off x="4992624" y="2359152"/>
            <a:ext cx="173736" cy="329184"/>
          </a:xfrm>
          <a:prstGeom prst="rect">
            <a:avLst/>
          </a:prstGeom>
          <a:noFill/>
          <a:ln/>
        </p:spPr>
        <p:txBody>
          <a:bodyPr wrap="square" lIns="0" tIns="0" rIns="0" bIns="0" rtlCol="0" anchor="ctr">
            <a:normAutofit/>
          </a:bodyPr>
          <a:lstStyle/>
          <a:p>
            <a:pPr marL="0" indent="0">
              <a:lnSpc>
                <a:spcPct val="105000"/>
              </a:lnSpc>
              <a:buNone/>
            </a:pPr>
            <a:r>
              <a:rPr lang="en-US" sz="1800" dirty="0">
                <a:solidFill>
                  <a:srgbClr val="3AD7F9"/>
                </a:solidFill>
                <a:latin typeface="Inter" pitchFamily="34" charset="0"/>
                <a:ea typeface="Inter" pitchFamily="34" charset="-122"/>
                <a:cs typeface="Inter" pitchFamily="34" charset="-120"/>
              </a:rPr>
              <a:t>›</a:t>
            </a:r>
            <a:endParaRPr lang="en-US" sz="1800" dirty="0"/>
          </a:p>
        </p:txBody>
      </p:sp>
      <p:sp>
        <p:nvSpPr>
          <p:cNvPr id="17" name="Shape 15"/>
          <p:cNvSpPr/>
          <p:nvPr/>
        </p:nvSpPr>
        <p:spPr>
          <a:xfrm>
            <a:off x="5184648" y="2011680"/>
            <a:ext cx="211226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18" name="Text 16"/>
          <p:cNvSpPr/>
          <p:nvPr/>
        </p:nvSpPr>
        <p:spPr>
          <a:xfrm>
            <a:off x="5303520" y="2185416"/>
            <a:ext cx="1892808" cy="301752"/>
          </a:xfrm>
          <a:prstGeom prst="rect">
            <a:avLst/>
          </a:prstGeom>
          <a:noFill/>
          <a:ln/>
        </p:spPr>
        <p:txBody>
          <a:bodyPr wrap="square" lIns="0" tIns="0" rIns="0" bIns="0" rtlCol="0" anchor="ctr">
            <a:normAutofit/>
          </a:bodyPr>
          <a:lstStyle/>
          <a:p>
            <a:pPr marL="0" indent="0">
              <a:lnSpc>
                <a:spcPct val="105000"/>
              </a:lnSpc>
              <a:buNone/>
            </a:pPr>
            <a:r>
              <a:rPr lang="en-US" sz="1200" b="1" dirty="0">
                <a:solidFill>
                  <a:srgbClr val="F6FAFD"/>
                </a:solidFill>
                <a:latin typeface="Inter" pitchFamily="34" charset="0"/>
                <a:ea typeface="Inter" pitchFamily="34" charset="-122"/>
                <a:cs typeface="Inter" pitchFamily="34" charset="-120"/>
              </a:rPr>
              <a:t>МАХ НОГОЙ</a:t>
            </a:r>
            <a:endParaRPr lang="en-US" sz="1200" dirty="0"/>
          </a:p>
        </p:txBody>
      </p:sp>
      <p:sp>
        <p:nvSpPr>
          <p:cNvPr id="19" name="Text 17"/>
          <p:cNvSpPr/>
          <p:nvPr/>
        </p:nvSpPr>
        <p:spPr>
          <a:xfrm>
            <a:off x="5303520" y="2587752"/>
            <a:ext cx="1892808" cy="256032"/>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3AD7F9"/>
                </a:solidFill>
                <a:latin typeface="Inter" pitchFamily="34" charset="0"/>
                <a:ea typeface="Inter" pitchFamily="34" charset="-122"/>
                <a:cs typeface="Inter" pitchFamily="34" charset="-120"/>
              </a:rPr>
              <a:t>MG995</a:t>
            </a:r>
            <a:endParaRPr lang="en-US" sz="1100" dirty="0"/>
          </a:p>
        </p:txBody>
      </p:sp>
      <p:sp>
        <p:nvSpPr>
          <p:cNvPr id="20" name="Text 18"/>
          <p:cNvSpPr/>
          <p:nvPr/>
        </p:nvSpPr>
        <p:spPr>
          <a:xfrm>
            <a:off x="7324344" y="2359152"/>
            <a:ext cx="173736" cy="329184"/>
          </a:xfrm>
          <a:prstGeom prst="rect">
            <a:avLst/>
          </a:prstGeom>
          <a:noFill/>
          <a:ln/>
        </p:spPr>
        <p:txBody>
          <a:bodyPr wrap="square" lIns="0" tIns="0" rIns="0" bIns="0" rtlCol="0" anchor="ctr">
            <a:normAutofit/>
          </a:bodyPr>
          <a:lstStyle/>
          <a:p>
            <a:pPr marL="0" indent="0">
              <a:lnSpc>
                <a:spcPct val="105000"/>
              </a:lnSpc>
              <a:buNone/>
            </a:pPr>
            <a:r>
              <a:rPr lang="en-US" sz="1800" dirty="0">
                <a:solidFill>
                  <a:srgbClr val="3AD7F9"/>
                </a:solidFill>
                <a:latin typeface="Inter" pitchFamily="34" charset="0"/>
                <a:ea typeface="Inter" pitchFamily="34" charset="-122"/>
                <a:cs typeface="Inter" pitchFamily="34" charset="-120"/>
              </a:rPr>
              <a:t>›</a:t>
            </a:r>
            <a:endParaRPr lang="en-US" sz="1800" dirty="0"/>
          </a:p>
        </p:txBody>
      </p:sp>
      <p:sp>
        <p:nvSpPr>
          <p:cNvPr id="21" name="Shape 19"/>
          <p:cNvSpPr/>
          <p:nvPr/>
        </p:nvSpPr>
        <p:spPr>
          <a:xfrm>
            <a:off x="7516368" y="2011680"/>
            <a:ext cx="2112264" cy="1115568"/>
          </a:xfrm>
          <a:prstGeom prst="roundRect">
            <a:avLst>
              <a:gd name="adj" fmla="val 11475"/>
            </a:avLst>
          </a:prstGeom>
          <a:solidFill>
            <a:srgbClr val="193B54"/>
          </a:solidFill>
          <a:ln w="12700">
            <a:solidFill>
              <a:srgbClr val="193B54"/>
            </a:solidFill>
            <a:prstDash val="solid"/>
          </a:ln>
        </p:spPr>
        <p:txBody>
          <a:bodyPr/>
          <a:lstStyle/>
          <a:p>
            <a:endParaRPr/>
          </a:p>
        </p:txBody>
      </p:sp>
      <p:sp>
        <p:nvSpPr>
          <p:cNvPr id="22" name="Text 20"/>
          <p:cNvSpPr/>
          <p:nvPr/>
        </p:nvSpPr>
        <p:spPr>
          <a:xfrm>
            <a:off x="7635240" y="2185416"/>
            <a:ext cx="1892808" cy="301752"/>
          </a:xfrm>
          <a:prstGeom prst="rect">
            <a:avLst/>
          </a:prstGeom>
          <a:noFill/>
          <a:ln/>
        </p:spPr>
        <p:txBody>
          <a:bodyPr wrap="square" lIns="0" tIns="0" rIns="0" bIns="0" rtlCol="0" anchor="ctr">
            <a:normAutofit/>
          </a:bodyPr>
          <a:lstStyle/>
          <a:p>
            <a:pPr marL="0" indent="0">
              <a:lnSpc>
                <a:spcPct val="105000"/>
              </a:lnSpc>
              <a:buNone/>
            </a:pPr>
            <a:r>
              <a:rPr lang="en-US" sz="1200" b="1" dirty="0">
                <a:solidFill>
                  <a:srgbClr val="F6FAFD"/>
                </a:solidFill>
                <a:latin typeface="Inter" pitchFamily="34" charset="0"/>
                <a:ea typeface="Inter" pitchFamily="34" charset="-122"/>
                <a:cs typeface="Inter" pitchFamily="34" charset="-120"/>
              </a:rPr>
              <a:t>ПОВОРОТ ГОЛОВЫ</a:t>
            </a:r>
            <a:endParaRPr lang="en-US" sz="1200" dirty="0"/>
          </a:p>
        </p:txBody>
      </p:sp>
      <p:sp>
        <p:nvSpPr>
          <p:cNvPr id="23" name="Text 21"/>
          <p:cNvSpPr/>
          <p:nvPr/>
        </p:nvSpPr>
        <p:spPr>
          <a:xfrm>
            <a:off x="7635240" y="2587752"/>
            <a:ext cx="1892808" cy="256032"/>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3AD7F9"/>
                </a:solidFill>
                <a:latin typeface="Inter" pitchFamily="34" charset="0"/>
                <a:ea typeface="Inter" pitchFamily="34" charset="-122"/>
                <a:cs typeface="Inter" pitchFamily="34" charset="-120"/>
              </a:rPr>
              <a:t>28BYJ-48</a:t>
            </a:r>
            <a:endParaRPr lang="en-US" sz="1100" dirty="0"/>
          </a:p>
        </p:txBody>
      </p:sp>
      <p:sp>
        <p:nvSpPr>
          <p:cNvPr id="24" name="Text 22"/>
          <p:cNvSpPr/>
          <p:nvPr/>
        </p:nvSpPr>
        <p:spPr>
          <a:xfrm>
            <a:off x="9656064" y="2359152"/>
            <a:ext cx="173736" cy="329184"/>
          </a:xfrm>
          <a:prstGeom prst="rect">
            <a:avLst/>
          </a:prstGeom>
          <a:noFill/>
          <a:ln/>
        </p:spPr>
        <p:txBody>
          <a:bodyPr wrap="square" lIns="0" tIns="0" rIns="0" bIns="0" rtlCol="0" anchor="ctr">
            <a:normAutofit/>
          </a:bodyPr>
          <a:lstStyle/>
          <a:p>
            <a:pPr marL="0" indent="0">
              <a:lnSpc>
                <a:spcPct val="105000"/>
              </a:lnSpc>
              <a:buNone/>
            </a:pPr>
            <a:r>
              <a:rPr lang="en-US" sz="1800" dirty="0">
                <a:solidFill>
                  <a:srgbClr val="3AD7F9"/>
                </a:solidFill>
                <a:latin typeface="Inter" pitchFamily="34" charset="0"/>
                <a:ea typeface="Inter" pitchFamily="34" charset="-122"/>
                <a:cs typeface="Inter" pitchFamily="34" charset="-120"/>
              </a:rPr>
              <a:t>›</a:t>
            </a:r>
            <a:endParaRPr lang="en-US" sz="1800" dirty="0"/>
          </a:p>
        </p:txBody>
      </p:sp>
      <p:sp>
        <p:nvSpPr>
          <p:cNvPr id="25" name="Shape 23"/>
          <p:cNvSpPr/>
          <p:nvPr/>
        </p:nvSpPr>
        <p:spPr>
          <a:xfrm>
            <a:off x="9848088" y="2011680"/>
            <a:ext cx="2112264" cy="1115568"/>
          </a:xfrm>
          <a:prstGeom prst="roundRect">
            <a:avLst>
              <a:gd name="adj" fmla="val 11475"/>
            </a:avLst>
          </a:prstGeom>
          <a:solidFill>
            <a:srgbClr val="122D44"/>
          </a:solidFill>
          <a:ln w="12700">
            <a:solidFill>
              <a:srgbClr val="122D44"/>
            </a:solidFill>
            <a:prstDash val="solid"/>
          </a:ln>
        </p:spPr>
        <p:txBody>
          <a:bodyPr/>
          <a:lstStyle/>
          <a:p>
            <a:endParaRPr/>
          </a:p>
        </p:txBody>
      </p:sp>
      <p:sp>
        <p:nvSpPr>
          <p:cNvPr id="26" name="Text 24"/>
          <p:cNvSpPr/>
          <p:nvPr/>
        </p:nvSpPr>
        <p:spPr>
          <a:xfrm>
            <a:off x="9966960" y="2185416"/>
            <a:ext cx="1892808" cy="301752"/>
          </a:xfrm>
          <a:prstGeom prst="rect">
            <a:avLst/>
          </a:prstGeom>
          <a:noFill/>
          <a:ln/>
        </p:spPr>
        <p:txBody>
          <a:bodyPr wrap="square" lIns="0" tIns="0" rIns="0" bIns="0" rtlCol="0" anchor="ctr">
            <a:normAutofit/>
          </a:bodyPr>
          <a:lstStyle/>
          <a:p>
            <a:pPr marL="0" indent="0">
              <a:lnSpc>
                <a:spcPct val="105000"/>
              </a:lnSpc>
              <a:buNone/>
            </a:pPr>
            <a:r>
              <a:rPr lang="en-US" sz="1200" b="1" dirty="0">
                <a:solidFill>
                  <a:srgbClr val="F6FAFD"/>
                </a:solidFill>
                <a:latin typeface="Inter" pitchFamily="34" charset="0"/>
                <a:ea typeface="Inter" pitchFamily="34" charset="-122"/>
                <a:cs typeface="Inter" pitchFamily="34" charset="-120"/>
              </a:rPr>
              <a:t>ПАУЗА</a:t>
            </a:r>
            <a:endParaRPr lang="en-US" sz="1200" dirty="0"/>
          </a:p>
        </p:txBody>
      </p:sp>
      <p:sp>
        <p:nvSpPr>
          <p:cNvPr id="27" name="Text 25"/>
          <p:cNvSpPr/>
          <p:nvPr/>
        </p:nvSpPr>
        <p:spPr>
          <a:xfrm>
            <a:off x="9966960" y="2587752"/>
            <a:ext cx="1892808" cy="256032"/>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3AD7F9"/>
                </a:solidFill>
                <a:latin typeface="Inter" pitchFamily="34" charset="0"/>
                <a:ea typeface="Inter" pitchFamily="34" charset="-122"/>
                <a:cs typeface="Inter" pitchFamily="34" charset="-120"/>
              </a:rPr>
              <a:t>таймер</a:t>
            </a:r>
            <a:endParaRPr lang="en-US" sz="1100" dirty="0"/>
          </a:p>
        </p:txBody>
      </p:sp>
      <p:sp>
        <p:nvSpPr>
          <p:cNvPr id="28" name="Shape 26"/>
          <p:cNvSpPr/>
          <p:nvPr/>
        </p:nvSpPr>
        <p:spPr>
          <a:xfrm>
            <a:off x="557784" y="3694176"/>
            <a:ext cx="6839712" cy="2249424"/>
          </a:xfrm>
          <a:prstGeom prst="roundRect">
            <a:avLst>
              <a:gd name="adj" fmla="val 5691"/>
            </a:avLst>
          </a:prstGeom>
          <a:solidFill>
            <a:srgbClr val="122D44"/>
          </a:solidFill>
          <a:ln w="12700">
            <a:solidFill>
              <a:srgbClr val="122D44"/>
            </a:solidFill>
            <a:prstDash val="solid"/>
          </a:ln>
        </p:spPr>
        <p:txBody>
          <a:bodyPr/>
          <a:lstStyle/>
          <a:p>
            <a:endParaRPr/>
          </a:p>
        </p:txBody>
      </p:sp>
      <p:sp>
        <p:nvSpPr>
          <p:cNvPr id="29" name="Text 27"/>
          <p:cNvSpPr/>
          <p:nvPr/>
        </p:nvSpPr>
        <p:spPr>
          <a:xfrm>
            <a:off x="813816" y="3867912"/>
            <a:ext cx="374904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СХЕМА УПРАВЛЕНИЯ</a:t>
            </a:r>
            <a:endParaRPr lang="en-US" sz="900" dirty="0"/>
          </a:p>
        </p:txBody>
      </p:sp>
      <p:sp>
        <p:nvSpPr>
          <p:cNvPr id="30" name="Text 28"/>
          <p:cNvSpPr/>
          <p:nvPr/>
        </p:nvSpPr>
        <p:spPr>
          <a:xfrm>
            <a:off x="804672" y="4443984"/>
            <a:ext cx="6327648" cy="484632"/>
          </a:xfrm>
          <a:prstGeom prst="rect">
            <a:avLst/>
          </a:prstGeom>
          <a:noFill/>
          <a:ln/>
        </p:spPr>
        <p:txBody>
          <a:bodyPr wrap="square" lIns="0" tIns="0" rIns="0" bIns="0" rtlCol="0" anchor="ctr">
            <a:normAutofit/>
          </a:bodyPr>
          <a:lstStyle/>
          <a:p>
            <a:pPr marL="0" indent="0">
              <a:lnSpc>
                <a:spcPct val="105000"/>
              </a:lnSpc>
              <a:buNone/>
            </a:pPr>
            <a:r>
              <a:rPr lang="en-US" sz="2000" b="1" dirty="0">
                <a:solidFill>
                  <a:srgbClr val="F6FAFD"/>
                </a:solidFill>
                <a:latin typeface="Inter" pitchFamily="34" charset="0"/>
                <a:ea typeface="Inter" pitchFamily="34" charset="-122"/>
                <a:cs typeface="Inter" pitchFamily="34" charset="-120"/>
              </a:rPr>
              <a:t>Смартфон  →  ESP32  →  драйверы / сервоприводы</a:t>
            </a:r>
            <a:endParaRPr lang="en-US" sz="2000" dirty="0"/>
          </a:p>
        </p:txBody>
      </p:sp>
      <p:sp>
        <p:nvSpPr>
          <p:cNvPr id="31" name="Text 29"/>
          <p:cNvSpPr/>
          <p:nvPr/>
        </p:nvSpPr>
        <p:spPr>
          <a:xfrm>
            <a:off x="804672" y="5111496"/>
            <a:ext cx="6272784" cy="420624"/>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Bluetooth / Wi-Fi     •     команды     •     сценарии</a:t>
            </a:r>
            <a:endParaRPr lang="en-US" sz="1300" dirty="0"/>
          </a:p>
        </p:txBody>
      </p:sp>
      <p:sp>
        <p:nvSpPr>
          <p:cNvPr id="32" name="Shape 30"/>
          <p:cNvSpPr/>
          <p:nvPr/>
        </p:nvSpPr>
        <p:spPr>
          <a:xfrm>
            <a:off x="7644384" y="3694176"/>
            <a:ext cx="4005072" cy="2249424"/>
          </a:xfrm>
          <a:prstGeom prst="roundRect">
            <a:avLst>
              <a:gd name="adj" fmla="val 5691"/>
            </a:avLst>
          </a:prstGeom>
          <a:solidFill>
            <a:srgbClr val="122D44"/>
          </a:solidFill>
          <a:ln w="12700">
            <a:solidFill>
              <a:srgbClr val="122D44"/>
            </a:solidFill>
            <a:prstDash val="solid"/>
          </a:ln>
        </p:spPr>
        <p:txBody>
          <a:bodyPr/>
          <a:lstStyle/>
          <a:p>
            <a:endParaRPr/>
          </a:p>
        </p:txBody>
      </p:sp>
      <p:sp>
        <p:nvSpPr>
          <p:cNvPr id="33" name="Text 31"/>
          <p:cNvSpPr/>
          <p:nvPr/>
        </p:nvSpPr>
        <p:spPr>
          <a:xfrm>
            <a:off x="7909560" y="3867912"/>
            <a:ext cx="292608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СТАТУС</a:t>
            </a:r>
            <a:endParaRPr lang="en-US" sz="900" dirty="0"/>
          </a:p>
        </p:txBody>
      </p:sp>
      <p:sp>
        <p:nvSpPr>
          <p:cNvPr id="34" name="Text 32"/>
          <p:cNvSpPr/>
          <p:nvPr/>
        </p:nvSpPr>
        <p:spPr>
          <a:xfrm>
            <a:off x="7909560" y="4361688"/>
            <a:ext cx="3364992" cy="1289304"/>
          </a:xfrm>
          <a:prstGeom prst="rect">
            <a:avLst/>
          </a:prstGeom>
          <a:noFill/>
          <a:ln/>
        </p:spPr>
        <p:txBody>
          <a:bodyPr wrap="square" lIns="0" tIns="0" rIns="0" bIns="0" rtlCol="0" anchor="ctr">
            <a:normAutofit/>
          </a:bodyPr>
          <a:lstStyle/>
          <a:p>
            <a:pPr marL="0" indent="0">
              <a:lnSpc>
                <a:spcPct val="105000"/>
              </a:lnSpc>
              <a:buNone/>
            </a:pPr>
            <a:r>
              <a:rPr lang="en-US" sz="1700" b="1" dirty="0">
                <a:solidFill>
                  <a:srgbClr val="F3AB5A"/>
                </a:solidFill>
                <a:latin typeface="Inter" pitchFamily="34" charset="0"/>
                <a:ea typeface="Inter" pitchFamily="34" charset="-122"/>
                <a:cs typeface="Inter" pitchFamily="34" charset="-120"/>
              </a:rPr>
              <a:t>Программный сценарий</a:t>
            </a:r>
            <a:endParaRPr lang="en-US" sz="1700" dirty="0"/>
          </a:p>
          <a:p>
            <a:pPr marL="0" indent="0">
              <a:lnSpc>
                <a:spcPct val="105000"/>
              </a:lnSpc>
              <a:buNone/>
            </a:pPr>
            <a:r>
              <a:rPr lang="en-US" sz="1700" b="1" dirty="0">
                <a:solidFill>
                  <a:srgbClr val="F3AB5A"/>
                </a:solidFill>
                <a:latin typeface="Inter" pitchFamily="34" charset="0"/>
                <a:ea typeface="Inter" pitchFamily="34" charset="-122"/>
                <a:cs typeface="Inter" pitchFamily="34" charset="-120"/>
              </a:rPr>
              <a:t>требует проверки</a:t>
            </a:r>
            <a:endParaRPr lang="en-US" sz="1700" dirty="0"/>
          </a:p>
          <a:p>
            <a:pPr marL="0" indent="0">
              <a:lnSpc>
                <a:spcPct val="105000"/>
              </a:lnSpc>
              <a:buNone/>
            </a:pPr>
            <a:r>
              <a:rPr lang="en-US" sz="1700" b="1" dirty="0">
                <a:solidFill>
                  <a:srgbClr val="F3AB5A"/>
                </a:solidFill>
                <a:latin typeface="Inter" pitchFamily="34" charset="0"/>
                <a:ea typeface="Inter" pitchFamily="34" charset="-122"/>
                <a:cs typeface="Inter" pitchFamily="34" charset="-120"/>
              </a:rPr>
              <a:t>на собранном роботе</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Печатали, дорабатывали, собирали</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Снимки процесса из мастерской ПИВ.</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ИЗ МОДЕЛИ В МАТЕРИАЛ</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11 / 17</a:t>
            </a:r>
          </a:p>
        </p:txBody>
      </p:sp>
      <p:sp>
        <p:nvSpPr>
          <p:cNvPr id="9" name="Shape 7"/>
          <p:cNvSpPr/>
          <p:nvPr/>
        </p:nvSpPr>
        <p:spPr>
          <a:xfrm>
            <a:off x="521208" y="1801368"/>
            <a:ext cx="5394960" cy="2075688"/>
          </a:xfrm>
          <a:prstGeom prst="roundRect">
            <a:avLst>
              <a:gd name="adj" fmla="val 6167"/>
            </a:avLst>
          </a:prstGeom>
          <a:solidFill>
            <a:srgbClr val="122D44"/>
          </a:solidFill>
          <a:ln w="12700">
            <a:solidFill>
              <a:srgbClr val="122D44"/>
            </a:solidFill>
            <a:prstDash val="solid"/>
          </a:ln>
        </p:spPr>
        <p:txBody>
          <a:bodyPr/>
          <a:lstStyle/>
          <a:p>
            <a:endParaRPr/>
          </a:p>
        </p:txBody>
      </p:sp>
      <p:sp>
        <p:nvSpPr>
          <p:cNvPr id="10" name="Shape 8"/>
          <p:cNvSpPr/>
          <p:nvPr/>
        </p:nvSpPr>
        <p:spPr>
          <a:xfrm>
            <a:off x="612648" y="1892808"/>
            <a:ext cx="3063240" cy="1883664"/>
          </a:xfrm>
          <a:prstGeom prst="roundRect">
            <a:avLst>
              <a:gd name="adj" fmla="val 4854"/>
            </a:avLst>
          </a:prstGeom>
          <a:solidFill>
            <a:srgbClr val="193B54"/>
          </a:solidFill>
          <a:ln w="12700">
            <a:solidFill>
              <a:srgbClr val="193B54"/>
            </a:solidFill>
            <a:prstDash val="solid"/>
          </a:ln>
        </p:spPr>
        <p:txBody>
          <a:bodyPr/>
          <a:lstStyle/>
          <a:p>
            <a:endParaRPr/>
          </a:p>
        </p:txBody>
      </p:sp>
      <p:pic>
        <p:nvPicPr>
          <p:cNvPr id="11" name="Image 0" descr="/mnt/data/work_r2/slide_assets/printer_person.jpg"/>
          <p:cNvPicPr>
            <a:picLocks noChangeAspect="1"/>
          </p:cNvPicPr>
          <p:nvPr/>
        </p:nvPicPr>
        <p:blipFill>
          <a:blip r:embed="rId3"/>
          <a:stretch>
            <a:fillRect/>
          </a:stretch>
        </p:blipFill>
        <p:spPr>
          <a:xfrm>
            <a:off x="1154560" y="1892808"/>
            <a:ext cx="1979417" cy="1883664"/>
          </a:xfrm>
          <a:prstGeom prst="rect">
            <a:avLst/>
          </a:prstGeom>
        </p:spPr>
      </p:pic>
      <p:sp>
        <p:nvSpPr>
          <p:cNvPr id="12" name="Text 9"/>
          <p:cNvSpPr/>
          <p:nvPr/>
        </p:nvSpPr>
        <p:spPr>
          <a:xfrm>
            <a:off x="3831336" y="2340864"/>
            <a:ext cx="1956816" cy="850392"/>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3D-печать</a:t>
            </a:r>
            <a:endParaRPr lang="en-US" sz="1800" dirty="0"/>
          </a:p>
        </p:txBody>
      </p:sp>
      <p:sp>
        <p:nvSpPr>
          <p:cNvPr id="13" name="Shape 10"/>
          <p:cNvSpPr/>
          <p:nvPr/>
        </p:nvSpPr>
        <p:spPr>
          <a:xfrm>
            <a:off x="6163056" y="1801368"/>
            <a:ext cx="5394960" cy="2075688"/>
          </a:xfrm>
          <a:prstGeom prst="roundRect">
            <a:avLst>
              <a:gd name="adj" fmla="val 6167"/>
            </a:avLst>
          </a:prstGeom>
          <a:solidFill>
            <a:srgbClr val="122D44"/>
          </a:solidFill>
          <a:ln w="12700">
            <a:solidFill>
              <a:srgbClr val="122D44"/>
            </a:solidFill>
            <a:prstDash val="solid"/>
          </a:ln>
        </p:spPr>
        <p:txBody>
          <a:bodyPr/>
          <a:lstStyle/>
          <a:p>
            <a:endParaRPr/>
          </a:p>
        </p:txBody>
      </p:sp>
      <p:sp>
        <p:nvSpPr>
          <p:cNvPr id="14" name="Shape 11"/>
          <p:cNvSpPr/>
          <p:nvPr/>
        </p:nvSpPr>
        <p:spPr>
          <a:xfrm>
            <a:off x="6254496" y="1892808"/>
            <a:ext cx="3063240" cy="1883664"/>
          </a:xfrm>
          <a:prstGeom prst="roundRect">
            <a:avLst>
              <a:gd name="adj" fmla="val 4854"/>
            </a:avLst>
          </a:prstGeom>
          <a:solidFill>
            <a:srgbClr val="193B54"/>
          </a:solidFill>
          <a:ln w="12700">
            <a:solidFill>
              <a:srgbClr val="193B54"/>
            </a:solidFill>
            <a:prstDash val="solid"/>
          </a:ln>
        </p:spPr>
        <p:txBody>
          <a:bodyPr/>
          <a:lstStyle/>
          <a:p>
            <a:endParaRPr/>
          </a:p>
        </p:txBody>
      </p:sp>
      <p:pic>
        <p:nvPicPr>
          <p:cNvPr id="15" name="Image 1" descr="/mnt/data/work_r2/slide_assets/bench.jpg"/>
          <p:cNvPicPr>
            <a:picLocks noChangeAspect="1"/>
          </p:cNvPicPr>
          <p:nvPr/>
        </p:nvPicPr>
        <p:blipFill>
          <a:blip r:embed="rId4"/>
          <a:stretch>
            <a:fillRect/>
          </a:stretch>
        </p:blipFill>
        <p:spPr>
          <a:xfrm>
            <a:off x="6514444" y="1892808"/>
            <a:ext cx="2543344" cy="1883664"/>
          </a:xfrm>
          <a:prstGeom prst="rect">
            <a:avLst/>
          </a:prstGeom>
        </p:spPr>
      </p:pic>
      <p:sp>
        <p:nvSpPr>
          <p:cNvPr id="16" name="Text 12"/>
          <p:cNvSpPr/>
          <p:nvPr/>
        </p:nvSpPr>
        <p:spPr>
          <a:xfrm>
            <a:off x="9473184" y="2340864"/>
            <a:ext cx="1956816" cy="850392"/>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Ручная подгонка</a:t>
            </a:r>
            <a:endParaRPr lang="en-US" sz="1800" dirty="0"/>
          </a:p>
        </p:txBody>
      </p:sp>
      <p:sp>
        <p:nvSpPr>
          <p:cNvPr id="17" name="Shape 13"/>
          <p:cNvSpPr/>
          <p:nvPr/>
        </p:nvSpPr>
        <p:spPr>
          <a:xfrm>
            <a:off x="521208" y="4032504"/>
            <a:ext cx="5394960" cy="2075688"/>
          </a:xfrm>
          <a:prstGeom prst="roundRect">
            <a:avLst>
              <a:gd name="adj" fmla="val 6167"/>
            </a:avLst>
          </a:prstGeom>
          <a:solidFill>
            <a:srgbClr val="122D44"/>
          </a:solidFill>
          <a:ln w="12700">
            <a:solidFill>
              <a:srgbClr val="122D44"/>
            </a:solidFill>
            <a:prstDash val="solid"/>
          </a:ln>
        </p:spPr>
        <p:txBody>
          <a:bodyPr/>
          <a:lstStyle/>
          <a:p>
            <a:endParaRPr/>
          </a:p>
        </p:txBody>
      </p:sp>
      <p:sp>
        <p:nvSpPr>
          <p:cNvPr id="18" name="Shape 14"/>
          <p:cNvSpPr/>
          <p:nvPr/>
        </p:nvSpPr>
        <p:spPr>
          <a:xfrm>
            <a:off x="612648" y="4123944"/>
            <a:ext cx="3063240" cy="1883664"/>
          </a:xfrm>
          <a:prstGeom prst="roundRect">
            <a:avLst>
              <a:gd name="adj" fmla="val 4854"/>
            </a:avLst>
          </a:prstGeom>
          <a:solidFill>
            <a:srgbClr val="193B54"/>
          </a:solidFill>
          <a:ln w="12700">
            <a:solidFill>
              <a:srgbClr val="193B54"/>
            </a:solidFill>
            <a:prstDash val="solid"/>
          </a:ln>
        </p:spPr>
        <p:txBody>
          <a:bodyPr/>
          <a:lstStyle/>
          <a:p>
            <a:endParaRPr/>
          </a:p>
        </p:txBody>
      </p:sp>
      <p:pic>
        <p:nvPicPr>
          <p:cNvPr id="19" name="Image 2" descr="/mnt/data/work_r2/slide_assets/solder.jpg"/>
          <p:cNvPicPr>
            <a:picLocks noChangeAspect="1"/>
          </p:cNvPicPr>
          <p:nvPr/>
        </p:nvPicPr>
        <p:blipFill>
          <a:blip r:embed="rId5"/>
          <a:stretch>
            <a:fillRect/>
          </a:stretch>
        </p:blipFill>
        <p:spPr>
          <a:xfrm>
            <a:off x="872596" y="4123944"/>
            <a:ext cx="2543344" cy="1883664"/>
          </a:xfrm>
          <a:prstGeom prst="rect">
            <a:avLst/>
          </a:prstGeom>
        </p:spPr>
      </p:pic>
      <p:sp>
        <p:nvSpPr>
          <p:cNvPr id="20" name="Text 15"/>
          <p:cNvSpPr/>
          <p:nvPr/>
        </p:nvSpPr>
        <p:spPr>
          <a:xfrm>
            <a:off x="3831336" y="4572000"/>
            <a:ext cx="1956816" cy="850392"/>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Электроника</a:t>
            </a:r>
            <a:endParaRPr lang="en-US" sz="1800" dirty="0"/>
          </a:p>
        </p:txBody>
      </p:sp>
      <p:sp>
        <p:nvSpPr>
          <p:cNvPr id="21" name="Shape 16"/>
          <p:cNvSpPr/>
          <p:nvPr/>
        </p:nvSpPr>
        <p:spPr>
          <a:xfrm>
            <a:off x="6163056" y="4032504"/>
            <a:ext cx="5394960" cy="2075688"/>
          </a:xfrm>
          <a:prstGeom prst="roundRect">
            <a:avLst>
              <a:gd name="adj" fmla="val 6167"/>
            </a:avLst>
          </a:prstGeom>
          <a:solidFill>
            <a:srgbClr val="122D44"/>
          </a:solidFill>
          <a:ln w="12700">
            <a:solidFill>
              <a:srgbClr val="122D44"/>
            </a:solidFill>
            <a:prstDash val="solid"/>
          </a:ln>
        </p:spPr>
        <p:txBody>
          <a:bodyPr/>
          <a:lstStyle/>
          <a:p>
            <a:endParaRPr/>
          </a:p>
        </p:txBody>
      </p:sp>
      <p:sp>
        <p:nvSpPr>
          <p:cNvPr id="22" name="Shape 17"/>
          <p:cNvSpPr/>
          <p:nvPr/>
        </p:nvSpPr>
        <p:spPr>
          <a:xfrm>
            <a:off x="6254496" y="4123944"/>
            <a:ext cx="3063240" cy="1883664"/>
          </a:xfrm>
          <a:prstGeom prst="roundRect">
            <a:avLst>
              <a:gd name="adj" fmla="val 4854"/>
            </a:avLst>
          </a:prstGeom>
          <a:solidFill>
            <a:srgbClr val="193B54"/>
          </a:solidFill>
          <a:ln w="12700">
            <a:solidFill>
              <a:srgbClr val="193B54"/>
            </a:solidFill>
            <a:prstDash val="solid"/>
          </a:ln>
        </p:spPr>
        <p:txBody>
          <a:bodyPr/>
          <a:lstStyle/>
          <a:p>
            <a:endParaRPr/>
          </a:p>
        </p:txBody>
      </p:sp>
      <p:pic>
        <p:nvPicPr>
          <p:cNvPr id="23" name="Image 3" descr="/mnt/data/work_r2/slide_assets/parts.jpg"/>
          <p:cNvPicPr>
            <a:picLocks noChangeAspect="1"/>
          </p:cNvPicPr>
          <p:nvPr/>
        </p:nvPicPr>
        <p:blipFill>
          <a:blip r:embed="rId6"/>
          <a:stretch>
            <a:fillRect/>
          </a:stretch>
        </p:blipFill>
        <p:spPr>
          <a:xfrm>
            <a:off x="6543094" y="4123944"/>
            <a:ext cx="2486044" cy="1883664"/>
          </a:xfrm>
          <a:prstGeom prst="rect">
            <a:avLst/>
          </a:prstGeom>
        </p:spPr>
      </p:pic>
      <p:sp>
        <p:nvSpPr>
          <p:cNvPr id="24" name="Text 18"/>
          <p:cNvSpPr/>
          <p:nvPr/>
        </p:nvSpPr>
        <p:spPr>
          <a:xfrm>
            <a:off x="9473184" y="4572000"/>
            <a:ext cx="1956816" cy="850392"/>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Командная работа</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824"/>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3AD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0624" y="256032"/>
            <a:ext cx="4389120" cy="228600"/>
          </a:xfrm>
          <a:prstGeom prst="rect">
            <a:avLst/>
          </a:prstGeom>
          <a:noFill/>
        </p:spPr>
        <p:txBody>
          <a:bodyPr wrap="square" lIns="0" tIns="0" rIns="0" bIns="0">
            <a:spAutoFit/>
          </a:bodyPr>
          <a:lstStyle/>
          <a:p>
            <a:pPr>
              <a:lnSpc>
                <a:spcPct val="105000"/>
              </a:lnSpc>
              <a:spcBef>
                <a:spcPts val="0"/>
              </a:spcBef>
              <a:spcAft>
                <a:spcPts val="0"/>
              </a:spcAft>
            </a:pPr>
            <a:r>
              <a:rPr sz="900" b="0">
                <a:solidFill>
                  <a:srgbClr val="3AD7F9"/>
                </a:solidFill>
                <a:latin typeface="Inter"/>
              </a:rPr>
              <a:t>PIV 2026 · КОМАНДА 5</a:t>
            </a:r>
          </a:p>
        </p:txBody>
      </p:sp>
      <p:sp>
        <p:nvSpPr>
          <p:cNvPr id="4" name="TextBox 3"/>
          <p:cNvSpPr txBox="1"/>
          <p:nvPr/>
        </p:nvSpPr>
        <p:spPr>
          <a:xfrm>
            <a:off x="420624" y="621792"/>
            <a:ext cx="11292840" cy="676656"/>
          </a:xfrm>
          <a:prstGeom prst="rect">
            <a:avLst/>
          </a:prstGeom>
          <a:noFill/>
        </p:spPr>
        <p:txBody>
          <a:bodyPr wrap="square" lIns="0" tIns="0" rIns="0" bIns="0">
            <a:spAutoFit/>
          </a:bodyPr>
          <a:lstStyle/>
          <a:p>
            <a:pPr>
              <a:lnSpc>
                <a:spcPct val="105000"/>
              </a:lnSpc>
              <a:spcBef>
                <a:spcPts val="0"/>
              </a:spcBef>
              <a:spcAft>
                <a:spcPts val="0"/>
              </a:spcAft>
            </a:pPr>
            <a:r>
              <a:rPr sz="2900" b="1">
                <a:solidFill>
                  <a:srgbClr val="F6FAFD"/>
                </a:solidFill>
                <a:latin typeface="Inter Display"/>
              </a:rPr>
              <a:t>Электроника: что сделали и что дальше</a:t>
            </a:r>
          </a:p>
        </p:txBody>
      </p:sp>
      <p:sp>
        <p:nvSpPr>
          <p:cNvPr id="5" name="TextBox 4"/>
          <p:cNvSpPr txBox="1"/>
          <p:nvPr/>
        </p:nvSpPr>
        <p:spPr>
          <a:xfrm>
            <a:off x="438912" y="1307592"/>
            <a:ext cx="10972800" cy="329184"/>
          </a:xfrm>
          <a:prstGeom prst="rect">
            <a:avLst/>
          </a:prstGeom>
          <a:noFill/>
        </p:spPr>
        <p:txBody>
          <a:bodyPr wrap="square" lIns="0" tIns="0" rIns="0" bIns="0">
            <a:spAutoFit/>
          </a:bodyPr>
          <a:lstStyle/>
          <a:p>
            <a:pPr>
              <a:lnSpc>
                <a:spcPct val="105000"/>
              </a:lnSpc>
              <a:spcBef>
                <a:spcPts val="0"/>
              </a:spcBef>
              <a:spcAft>
                <a:spcPts val="0"/>
              </a:spcAft>
            </a:pPr>
            <a:r>
              <a:rPr sz="1250" b="0">
                <a:solidFill>
                  <a:srgbClr val="AFC6D8"/>
                </a:solidFill>
                <a:latin typeface="Inter"/>
              </a:rPr>
              <a:t>Слово электронщику: от подготовки компонентов — к живому управлению роботом.</a:t>
            </a:r>
          </a:p>
        </p:txBody>
      </p:sp>
      <p:sp>
        <p:nvSpPr>
          <p:cNvPr id="6" name="Rounded Rectangle 5"/>
          <p:cNvSpPr/>
          <p:nvPr/>
        </p:nvSpPr>
        <p:spPr>
          <a:xfrm>
            <a:off x="521207" y="1810512"/>
            <a:ext cx="3721608" cy="4352544"/>
          </a:xfrm>
          <a:prstGeom prst="roundRect">
            <a:avLst>
              <a:gd name="adj" fmla="val 7000"/>
            </a:avLst>
          </a:prstGeom>
          <a:solidFill>
            <a:srgbClr val="132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lectronics_photo_for_slide.jpg"/>
          <p:cNvPicPr>
            <a:picLocks noChangeAspect="1"/>
          </p:cNvPicPr>
          <p:nvPr/>
        </p:nvPicPr>
        <p:blipFill>
          <a:blip r:embed="rId3"/>
          <a:stretch>
            <a:fillRect/>
          </a:stretch>
        </p:blipFill>
        <p:spPr>
          <a:xfrm>
            <a:off x="621792" y="1911095"/>
            <a:ext cx="3520440" cy="3383280"/>
          </a:xfrm>
          <a:prstGeom prst="rect">
            <a:avLst/>
          </a:prstGeom>
        </p:spPr>
      </p:pic>
      <p:sp>
        <p:nvSpPr>
          <p:cNvPr id="8" name="TextBox 7"/>
          <p:cNvSpPr txBox="1"/>
          <p:nvPr/>
        </p:nvSpPr>
        <p:spPr>
          <a:xfrm>
            <a:off x="786384" y="5477256"/>
            <a:ext cx="3200400" cy="274320"/>
          </a:xfrm>
          <a:prstGeom prst="rect">
            <a:avLst/>
          </a:prstGeom>
          <a:noFill/>
        </p:spPr>
        <p:txBody>
          <a:bodyPr wrap="square" lIns="0" tIns="0" rIns="0" bIns="0">
            <a:spAutoFit/>
          </a:bodyPr>
          <a:lstStyle/>
          <a:p>
            <a:pPr>
              <a:lnSpc>
                <a:spcPct val="105000"/>
              </a:lnSpc>
              <a:spcBef>
                <a:spcPts val="0"/>
              </a:spcBef>
              <a:spcAft>
                <a:spcPts val="0"/>
              </a:spcAft>
            </a:pPr>
            <a:r>
              <a:rPr sz="1050" b="1">
                <a:solidFill>
                  <a:srgbClr val="3AD7F9"/>
                </a:solidFill>
                <a:latin typeface="Inter"/>
              </a:rPr>
              <a:t>НАШ ЭЛЕКТРОНЩИК</a:t>
            </a:r>
          </a:p>
        </p:txBody>
      </p:sp>
      <p:sp>
        <p:nvSpPr>
          <p:cNvPr id="9" name="TextBox 8"/>
          <p:cNvSpPr txBox="1"/>
          <p:nvPr/>
        </p:nvSpPr>
        <p:spPr>
          <a:xfrm>
            <a:off x="786384" y="5779008"/>
            <a:ext cx="3163824" cy="246888"/>
          </a:xfrm>
          <a:prstGeom prst="rect">
            <a:avLst/>
          </a:prstGeom>
          <a:noFill/>
        </p:spPr>
        <p:txBody>
          <a:bodyPr wrap="square" lIns="0" tIns="0" rIns="0" bIns="0">
            <a:spAutoFit/>
          </a:bodyPr>
          <a:lstStyle/>
          <a:p>
            <a:pPr>
              <a:lnSpc>
                <a:spcPct val="105000"/>
              </a:lnSpc>
              <a:spcBef>
                <a:spcPts val="0"/>
              </a:spcBef>
              <a:spcAft>
                <a:spcPts val="0"/>
              </a:spcAft>
            </a:pPr>
            <a:r>
              <a:rPr sz="1000" b="0">
                <a:solidFill>
                  <a:srgbClr val="AFC6D8"/>
                </a:solidFill>
                <a:latin typeface="Inter"/>
              </a:rPr>
              <a:t>Пайка • подключение • испытания</a:t>
            </a:r>
          </a:p>
        </p:txBody>
      </p:sp>
      <p:sp>
        <p:nvSpPr>
          <p:cNvPr id="10" name="Rounded Rectangle 9"/>
          <p:cNvSpPr/>
          <p:nvPr/>
        </p:nvSpPr>
        <p:spPr>
          <a:xfrm>
            <a:off x="4462272" y="1810512"/>
            <a:ext cx="3483864" cy="4352544"/>
          </a:xfrm>
          <a:prstGeom prst="roundRect">
            <a:avLst>
              <a:gd name="adj" fmla="val 7000"/>
            </a:avLst>
          </a:prstGeom>
          <a:solidFill>
            <a:srgbClr val="132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156448" y="1810512"/>
            <a:ext cx="3483864" cy="4352544"/>
          </a:xfrm>
          <a:prstGeom prst="roundRect">
            <a:avLst>
              <a:gd name="adj" fmla="val 7000"/>
            </a:avLst>
          </a:prstGeom>
          <a:solidFill>
            <a:srgbClr val="132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62272" y="1828800"/>
            <a:ext cx="59436" cy="4297680"/>
          </a:xfrm>
          <a:prstGeom prst="rect">
            <a:avLst/>
          </a:prstGeom>
          <a:solidFill>
            <a:srgbClr val="73E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56448" y="1828800"/>
            <a:ext cx="59436" cy="4297680"/>
          </a:xfrm>
          <a:prstGeom prst="rect">
            <a:avLst/>
          </a:prstGeom>
          <a:solidFill>
            <a:srgbClr val="F3A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2020824"/>
            <a:ext cx="3154680" cy="292608"/>
          </a:xfrm>
          <a:prstGeom prst="rect">
            <a:avLst/>
          </a:prstGeom>
          <a:noFill/>
        </p:spPr>
        <p:txBody>
          <a:bodyPr wrap="square" lIns="0" tIns="0" rIns="0" bIns="0">
            <a:spAutoFit/>
          </a:bodyPr>
          <a:lstStyle/>
          <a:p>
            <a:pPr>
              <a:lnSpc>
                <a:spcPct val="105000"/>
              </a:lnSpc>
              <a:spcBef>
                <a:spcPts val="0"/>
              </a:spcBef>
              <a:spcAft>
                <a:spcPts val="0"/>
              </a:spcAft>
            </a:pPr>
            <a:r>
              <a:rPr sz="1220" b="1">
                <a:solidFill>
                  <a:srgbClr val="73E2C1"/>
                </a:solidFill>
                <a:latin typeface="Inter"/>
              </a:rPr>
              <a:t>УЖЕ ПОДГОТОВИЛИ</a:t>
            </a:r>
          </a:p>
        </p:txBody>
      </p:sp>
      <p:sp>
        <p:nvSpPr>
          <p:cNvPr id="15" name="TextBox 14"/>
          <p:cNvSpPr txBox="1"/>
          <p:nvPr/>
        </p:nvSpPr>
        <p:spPr>
          <a:xfrm>
            <a:off x="8357616" y="2020824"/>
            <a:ext cx="3154680" cy="292608"/>
          </a:xfrm>
          <a:prstGeom prst="rect">
            <a:avLst/>
          </a:prstGeom>
          <a:noFill/>
        </p:spPr>
        <p:txBody>
          <a:bodyPr wrap="square" lIns="0" tIns="0" rIns="0" bIns="0">
            <a:spAutoFit/>
          </a:bodyPr>
          <a:lstStyle/>
          <a:p>
            <a:pPr>
              <a:lnSpc>
                <a:spcPct val="105000"/>
              </a:lnSpc>
              <a:spcBef>
                <a:spcPts val="0"/>
              </a:spcBef>
              <a:spcAft>
                <a:spcPts val="0"/>
              </a:spcAft>
            </a:pPr>
            <a:r>
              <a:rPr sz="1220" b="1">
                <a:solidFill>
                  <a:srgbClr val="F3AB5A"/>
                </a:solidFill>
                <a:latin typeface="Inter"/>
              </a:rPr>
              <a:t>СЛЕДУЮЩИЕ ШАГИ</a:t>
            </a:r>
          </a:p>
        </p:txBody>
      </p:sp>
      <p:sp>
        <p:nvSpPr>
          <p:cNvPr id="16" name="Rounded Rectangle 15"/>
          <p:cNvSpPr/>
          <p:nvPr/>
        </p:nvSpPr>
        <p:spPr>
          <a:xfrm>
            <a:off x="4645152" y="2551175"/>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64024" y="2679191"/>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73E2C1"/>
                </a:solidFill>
                <a:latin typeface="Inter"/>
              </a:rPr>
              <a:t>01</a:t>
            </a:r>
          </a:p>
        </p:txBody>
      </p:sp>
      <p:sp>
        <p:nvSpPr>
          <p:cNvPr id="18" name="TextBox 17"/>
          <p:cNvSpPr txBox="1"/>
          <p:nvPr/>
        </p:nvSpPr>
        <p:spPr>
          <a:xfrm>
            <a:off x="5294376" y="2642615"/>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Пайка и подготовка узлов</a:t>
            </a:r>
          </a:p>
        </p:txBody>
      </p:sp>
      <p:sp>
        <p:nvSpPr>
          <p:cNvPr id="19" name="TextBox 18"/>
          <p:cNvSpPr txBox="1"/>
          <p:nvPr/>
        </p:nvSpPr>
        <p:spPr>
          <a:xfrm>
            <a:off x="5294376" y="2980944"/>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Начали работу с электроникой в мастерской.</a:t>
            </a:r>
          </a:p>
        </p:txBody>
      </p:sp>
      <p:sp>
        <p:nvSpPr>
          <p:cNvPr id="20" name="Rounded Rectangle 19"/>
          <p:cNvSpPr/>
          <p:nvPr/>
        </p:nvSpPr>
        <p:spPr>
          <a:xfrm>
            <a:off x="4645152" y="3639311"/>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64024" y="3767328"/>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73E2C1"/>
                </a:solidFill>
                <a:latin typeface="Inter"/>
              </a:rPr>
              <a:t>02</a:t>
            </a:r>
          </a:p>
        </p:txBody>
      </p:sp>
      <p:sp>
        <p:nvSpPr>
          <p:cNvPr id="22" name="TextBox 21"/>
          <p:cNvSpPr txBox="1"/>
          <p:nvPr/>
        </p:nvSpPr>
        <p:spPr>
          <a:xfrm>
            <a:off x="5294376" y="3730752"/>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Схема управления</a:t>
            </a:r>
          </a:p>
        </p:txBody>
      </p:sp>
      <p:sp>
        <p:nvSpPr>
          <p:cNvPr id="23" name="TextBox 22"/>
          <p:cNvSpPr txBox="1"/>
          <p:nvPr/>
        </p:nvSpPr>
        <p:spPr>
          <a:xfrm>
            <a:off x="5294376" y="4069079"/>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ESP32 → драйверы → моторы, серво и индикация.</a:t>
            </a:r>
          </a:p>
        </p:txBody>
      </p:sp>
      <p:sp>
        <p:nvSpPr>
          <p:cNvPr id="24" name="Rounded Rectangle 23"/>
          <p:cNvSpPr/>
          <p:nvPr/>
        </p:nvSpPr>
        <p:spPr>
          <a:xfrm>
            <a:off x="4645152" y="4727448"/>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64024" y="4855464"/>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73E2C1"/>
                </a:solidFill>
                <a:latin typeface="Inter"/>
              </a:rPr>
              <a:t>03</a:t>
            </a:r>
          </a:p>
        </p:txBody>
      </p:sp>
      <p:sp>
        <p:nvSpPr>
          <p:cNvPr id="26" name="TextBox 25"/>
          <p:cNvSpPr txBox="1"/>
          <p:nvPr/>
        </p:nvSpPr>
        <p:spPr>
          <a:xfrm>
            <a:off x="5294376" y="4818888"/>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Программная основа</a:t>
            </a:r>
          </a:p>
        </p:txBody>
      </p:sp>
      <p:sp>
        <p:nvSpPr>
          <p:cNvPr id="27" name="TextBox 26"/>
          <p:cNvSpPr txBox="1"/>
          <p:nvPr/>
        </p:nvSpPr>
        <p:spPr>
          <a:xfrm>
            <a:off x="5294376" y="5157216"/>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Wi-Fi-пульт, команды, танец и 3 эмоции в коде.</a:t>
            </a:r>
          </a:p>
        </p:txBody>
      </p:sp>
      <p:sp>
        <p:nvSpPr>
          <p:cNvPr id="28" name="Rounded Rectangle 27"/>
          <p:cNvSpPr/>
          <p:nvPr/>
        </p:nvSpPr>
        <p:spPr>
          <a:xfrm>
            <a:off x="8339327" y="2551175"/>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58200" y="2679191"/>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F3AB5A"/>
                </a:solidFill>
                <a:latin typeface="Inter"/>
              </a:rPr>
              <a:t>01</a:t>
            </a:r>
          </a:p>
        </p:txBody>
      </p:sp>
      <p:sp>
        <p:nvSpPr>
          <p:cNvPr id="30" name="TextBox 29"/>
          <p:cNvSpPr txBox="1"/>
          <p:nvPr/>
        </p:nvSpPr>
        <p:spPr>
          <a:xfrm>
            <a:off x="8988552" y="2642615"/>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Проверить подключение</a:t>
            </a:r>
          </a:p>
        </p:txBody>
      </p:sp>
      <p:sp>
        <p:nvSpPr>
          <p:cNvPr id="31" name="TextBox 30"/>
          <p:cNvSpPr txBox="1"/>
          <p:nvPr/>
        </p:nvSpPr>
        <p:spPr>
          <a:xfrm>
            <a:off x="8988552" y="2980944"/>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Питание, драйверы, пины, общий GND.</a:t>
            </a:r>
          </a:p>
        </p:txBody>
      </p:sp>
      <p:sp>
        <p:nvSpPr>
          <p:cNvPr id="32" name="Rounded Rectangle 31"/>
          <p:cNvSpPr/>
          <p:nvPr/>
        </p:nvSpPr>
        <p:spPr>
          <a:xfrm>
            <a:off x="8339327" y="3639311"/>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58200" y="3767328"/>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F3AB5A"/>
                </a:solidFill>
                <a:latin typeface="Inter"/>
              </a:rPr>
              <a:t>02</a:t>
            </a:r>
          </a:p>
        </p:txBody>
      </p:sp>
      <p:sp>
        <p:nvSpPr>
          <p:cNvPr id="34" name="TextBox 33"/>
          <p:cNvSpPr txBox="1"/>
          <p:nvPr/>
        </p:nvSpPr>
        <p:spPr>
          <a:xfrm>
            <a:off x="8988552" y="3730752"/>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Запустить приводы</a:t>
            </a:r>
          </a:p>
        </p:txBody>
      </p:sp>
      <p:sp>
        <p:nvSpPr>
          <p:cNvPr id="35" name="TextBox 34"/>
          <p:cNvSpPr txBox="1"/>
          <p:nvPr/>
        </p:nvSpPr>
        <p:spPr>
          <a:xfrm>
            <a:off x="8988552" y="4069079"/>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Колёса JGA25, ноги MG995, поворот головы.</a:t>
            </a:r>
          </a:p>
        </p:txBody>
      </p:sp>
      <p:sp>
        <p:nvSpPr>
          <p:cNvPr id="36" name="Rounded Rectangle 35"/>
          <p:cNvSpPr/>
          <p:nvPr/>
        </p:nvSpPr>
        <p:spPr>
          <a:xfrm>
            <a:off x="8339327" y="4727448"/>
            <a:ext cx="3090672" cy="950976"/>
          </a:xfrm>
          <a:prstGeom prst="roundRect">
            <a:avLst>
              <a:gd name="adj" fmla="val 7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58200" y="4855464"/>
            <a:ext cx="438912" cy="310896"/>
          </a:xfrm>
          <a:prstGeom prst="rect">
            <a:avLst/>
          </a:prstGeom>
          <a:noFill/>
        </p:spPr>
        <p:txBody>
          <a:bodyPr wrap="square" lIns="0" tIns="0" rIns="0" bIns="0">
            <a:spAutoFit/>
          </a:bodyPr>
          <a:lstStyle/>
          <a:p>
            <a:pPr>
              <a:lnSpc>
                <a:spcPct val="105000"/>
              </a:lnSpc>
              <a:spcBef>
                <a:spcPts val="0"/>
              </a:spcBef>
              <a:spcAft>
                <a:spcPts val="0"/>
              </a:spcAft>
            </a:pPr>
            <a:r>
              <a:rPr sz="1370" b="1">
                <a:solidFill>
                  <a:srgbClr val="F3AB5A"/>
                </a:solidFill>
                <a:latin typeface="Inter"/>
              </a:rPr>
              <a:t>03</a:t>
            </a:r>
          </a:p>
        </p:txBody>
      </p:sp>
      <p:sp>
        <p:nvSpPr>
          <p:cNvPr id="38" name="TextBox 37"/>
          <p:cNvSpPr txBox="1"/>
          <p:nvPr/>
        </p:nvSpPr>
        <p:spPr>
          <a:xfrm>
            <a:off x="8988552" y="4818888"/>
            <a:ext cx="2331720" cy="301752"/>
          </a:xfrm>
          <a:prstGeom prst="rect">
            <a:avLst/>
          </a:prstGeom>
          <a:noFill/>
        </p:spPr>
        <p:txBody>
          <a:bodyPr wrap="square" lIns="0" tIns="0" rIns="0" bIns="0">
            <a:spAutoFit/>
          </a:bodyPr>
          <a:lstStyle/>
          <a:p>
            <a:pPr>
              <a:lnSpc>
                <a:spcPct val="105000"/>
              </a:lnSpc>
              <a:spcBef>
                <a:spcPts val="0"/>
              </a:spcBef>
              <a:spcAft>
                <a:spcPts val="0"/>
              </a:spcAft>
            </a:pPr>
            <a:r>
              <a:rPr sz="1200" b="1">
                <a:solidFill>
                  <a:srgbClr val="F6FAFD"/>
                </a:solidFill>
                <a:latin typeface="Inter"/>
              </a:rPr>
              <a:t>Испытать сценарий</a:t>
            </a:r>
          </a:p>
        </p:txBody>
      </p:sp>
      <p:sp>
        <p:nvSpPr>
          <p:cNvPr id="39" name="TextBox 38"/>
          <p:cNvSpPr txBox="1"/>
          <p:nvPr/>
        </p:nvSpPr>
        <p:spPr>
          <a:xfrm>
            <a:off x="8988552" y="5157216"/>
            <a:ext cx="2267712" cy="466344"/>
          </a:xfrm>
          <a:prstGeom prst="rect">
            <a:avLst/>
          </a:prstGeom>
          <a:noFill/>
        </p:spPr>
        <p:txBody>
          <a:bodyPr wrap="square" lIns="0" tIns="0" rIns="0" bIns="0">
            <a:spAutoFit/>
          </a:bodyPr>
          <a:lstStyle/>
          <a:p>
            <a:pPr>
              <a:lnSpc>
                <a:spcPct val="108000"/>
              </a:lnSpc>
              <a:spcBef>
                <a:spcPts val="0"/>
              </a:spcBef>
              <a:spcAft>
                <a:spcPts val="0"/>
              </a:spcAft>
            </a:pPr>
            <a:r>
              <a:rPr sz="969" b="0">
                <a:solidFill>
                  <a:srgbClr val="AFC6D8"/>
                </a:solidFill>
                <a:latin typeface="Inter"/>
              </a:rPr>
              <a:t>Смартфон, автономность, танец 30–60 с.</a:t>
            </a:r>
          </a:p>
        </p:txBody>
      </p:sp>
      <p:sp>
        <p:nvSpPr>
          <p:cNvPr id="40" name="Rectangle 39"/>
          <p:cNvSpPr/>
          <p:nvPr/>
        </p:nvSpPr>
        <p:spPr>
          <a:xfrm>
            <a:off x="420624" y="6519672"/>
            <a:ext cx="11247120" cy="12801"/>
          </a:xfrm>
          <a:prstGeom prst="rect">
            <a:avLst/>
          </a:prstGeom>
          <a:solidFill>
            <a:srgbClr val="2B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8912" y="6565392"/>
            <a:ext cx="6400800" cy="164592"/>
          </a:xfrm>
          <a:prstGeom prst="rect">
            <a:avLst/>
          </a:prstGeom>
          <a:noFill/>
        </p:spPr>
        <p:txBody>
          <a:bodyPr wrap="square" lIns="0" tIns="0" rIns="0" bIns="0">
            <a:spAutoFit/>
          </a:bodyPr>
          <a:lstStyle/>
          <a:p>
            <a:pPr>
              <a:lnSpc>
                <a:spcPct val="105000"/>
              </a:lnSpc>
              <a:spcBef>
                <a:spcPts val="0"/>
              </a:spcBef>
              <a:spcAft>
                <a:spcPts val="0"/>
              </a:spcAft>
            </a:pPr>
            <a:r>
              <a:rPr sz="900" b="0">
                <a:solidFill>
                  <a:srgbClr val="AFC6D8"/>
                </a:solidFill>
                <a:latin typeface="Inter"/>
              </a:rPr>
              <a:t>ЭЛЕКТРОНИКА И УПРАВЛЕНИЕ</a:t>
            </a:r>
          </a:p>
        </p:txBody>
      </p:sp>
      <p:sp>
        <p:nvSpPr>
          <p:cNvPr id="42" name="TextBox 41"/>
          <p:cNvSpPr txBox="1"/>
          <p:nvPr/>
        </p:nvSpPr>
        <p:spPr>
          <a:xfrm>
            <a:off x="10844784" y="6547104"/>
            <a:ext cx="859536" cy="201168"/>
          </a:xfrm>
          <a:prstGeom prst="rect">
            <a:avLst/>
          </a:prstGeom>
          <a:noFill/>
        </p:spPr>
        <p:txBody>
          <a:bodyPr wrap="none" lIns="0" tIns="0" rIns="0" bIns="0">
            <a:spAutoFit/>
          </a:bodyPr>
          <a:lstStyle/>
          <a:p>
            <a:pPr algn="r"/>
            <a:r>
              <a:rPr sz="910" b="1">
                <a:solidFill>
                  <a:srgbClr val="3AD7F9"/>
                </a:solidFill>
                <a:latin typeface="Inter"/>
              </a:rPr>
              <a:t>12 / 17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824"/>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3AD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0624" y="256032"/>
            <a:ext cx="4389120" cy="228600"/>
          </a:xfrm>
          <a:prstGeom prst="rect">
            <a:avLst/>
          </a:prstGeom>
          <a:noFill/>
        </p:spPr>
        <p:txBody>
          <a:bodyPr wrap="square" lIns="0" tIns="0" rIns="0" bIns="0" anchor="ctr">
            <a:noAutofit/>
          </a:bodyPr>
          <a:lstStyle/>
          <a:p>
            <a:pPr algn="l">
              <a:lnSpc>
                <a:spcPct val="100000"/>
              </a:lnSpc>
              <a:spcBef>
                <a:spcPts val="0"/>
              </a:spcBef>
              <a:spcAft>
                <a:spcPts val="0"/>
              </a:spcAft>
            </a:pPr>
            <a:r>
              <a:rPr sz="900" b="1">
                <a:solidFill>
                  <a:srgbClr val="3AD7F9"/>
                </a:solidFill>
                <a:latin typeface="Inter"/>
              </a:rPr>
              <a:t>PIV 2026 · КОМАНДА 5</a:t>
            </a:r>
          </a:p>
        </p:txBody>
      </p:sp>
      <p:sp>
        <p:nvSpPr>
          <p:cNvPr id="4" name="TextBox 3"/>
          <p:cNvSpPr txBox="1"/>
          <p:nvPr/>
        </p:nvSpPr>
        <p:spPr>
          <a:xfrm>
            <a:off x="420624" y="621792"/>
            <a:ext cx="11338560" cy="630936"/>
          </a:xfrm>
          <a:prstGeom prst="rect">
            <a:avLst/>
          </a:prstGeom>
          <a:noFill/>
        </p:spPr>
        <p:txBody>
          <a:bodyPr wrap="square" lIns="0" tIns="0" rIns="0" bIns="0" anchor="ctr">
            <a:noAutofit/>
          </a:bodyPr>
          <a:lstStyle/>
          <a:p>
            <a:pPr algn="l">
              <a:lnSpc>
                <a:spcPct val="100000"/>
              </a:lnSpc>
              <a:spcBef>
                <a:spcPts val="0"/>
              </a:spcBef>
              <a:spcAft>
                <a:spcPts val="0"/>
              </a:spcAft>
            </a:pPr>
            <a:r>
              <a:rPr sz="2900" b="1" dirty="0" err="1">
                <a:solidFill>
                  <a:srgbClr val="F4F8FB"/>
                </a:solidFill>
                <a:latin typeface="Inter"/>
              </a:rPr>
              <a:t>Механика</a:t>
            </a:r>
            <a:r>
              <a:rPr sz="2900" b="1" dirty="0">
                <a:solidFill>
                  <a:srgbClr val="F4F8FB"/>
                </a:solidFill>
                <a:latin typeface="Inter"/>
              </a:rPr>
              <a:t>: </a:t>
            </a:r>
            <a:r>
              <a:rPr sz="2900" b="1" dirty="0" err="1">
                <a:solidFill>
                  <a:srgbClr val="F4F8FB"/>
                </a:solidFill>
                <a:latin typeface="Inter"/>
              </a:rPr>
              <a:t>от</a:t>
            </a:r>
            <a:r>
              <a:rPr sz="2900" b="1" dirty="0">
                <a:solidFill>
                  <a:srgbClr val="F4F8FB"/>
                </a:solidFill>
                <a:latin typeface="Inter"/>
              </a:rPr>
              <a:t> </a:t>
            </a:r>
            <a:r>
              <a:rPr sz="2900" b="1" dirty="0" err="1">
                <a:solidFill>
                  <a:srgbClr val="F4F8FB"/>
                </a:solidFill>
                <a:latin typeface="Inter"/>
              </a:rPr>
              <a:t>детали</a:t>
            </a:r>
            <a:r>
              <a:rPr sz="2900" b="1" dirty="0">
                <a:solidFill>
                  <a:srgbClr val="F4F8FB"/>
                </a:solidFill>
                <a:latin typeface="Inter"/>
              </a:rPr>
              <a:t> к </a:t>
            </a:r>
            <a:r>
              <a:rPr sz="2900" b="1" dirty="0" err="1">
                <a:solidFill>
                  <a:srgbClr val="F4F8FB"/>
                </a:solidFill>
                <a:latin typeface="Inter"/>
              </a:rPr>
              <a:t>работающему</a:t>
            </a:r>
            <a:r>
              <a:rPr sz="2900" b="1" dirty="0">
                <a:solidFill>
                  <a:srgbClr val="F4F8FB"/>
                </a:solidFill>
                <a:latin typeface="Inter"/>
              </a:rPr>
              <a:t> </a:t>
            </a:r>
            <a:r>
              <a:rPr sz="2900" b="1" dirty="0" err="1">
                <a:solidFill>
                  <a:srgbClr val="F4F8FB"/>
                </a:solidFill>
                <a:latin typeface="Inter"/>
              </a:rPr>
              <a:t>узлу</a:t>
            </a:r>
            <a:endParaRPr sz="2900" b="1" dirty="0">
              <a:solidFill>
                <a:srgbClr val="F4F8FB"/>
              </a:solidFill>
              <a:latin typeface="Inter"/>
            </a:endParaRPr>
          </a:p>
        </p:txBody>
      </p:sp>
      <p:sp>
        <p:nvSpPr>
          <p:cNvPr id="5" name="TextBox 4"/>
          <p:cNvSpPr txBox="1"/>
          <p:nvPr/>
        </p:nvSpPr>
        <p:spPr>
          <a:xfrm>
            <a:off x="438912" y="1298448"/>
            <a:ext cx="11018520" cy="347472"/>
          </a:xfrm>
          <a:prstGeom prst="rect">
            <a:avLst/>
          </a:prstGeom>
          <a:noFill/>
        </p:spPr>
        <p:txBody>
          <a:bodyPr wrap="square" lIns="0" tIns="0" rIns="0" bIns="0" anchor="ctr">
            <a:noAutofit/>
          </a:bodyPr>
          <a:lstStyle/>
          <a:p>
            <a:pPr algn="l">
              <a:lnSpc>
                <a:spcPct val="100000"/>
              </a:lnSpc>
              <a:spcBef>
                <a:spcPts val="0"/>
              </a:spcBef>
              <a:spcAft>
                <a:spcPts val="0"/>
              </a:spcAft>
            </a:pPr>
            <a:r>
              <a:rPr sz="1410" b="0" dirty="0" err="1">
                <a:solidFill>
                  <a:srgbClr val="B0C7D7"/>
                </a:solidFill>
                <a:latin typeface="Inter"/>
              </a:rPr>
              <a:t>Ребёнок</a:t>
            </a:r>
            <a:r>
              <a:rPr sz="1410" b="0" dirty="0">
                <a:solidFill>
                  <a:srgbClr val="B0C7D7"/>
                </a:solidFill>
                <a:latin typeface="Inter"/>
              </a:rPr>
              <a:t> </a:t>
            </a:r>
            <a:r>
              <a:rPr sz="1410" b="0" dirty="0" err="1">
                <a:solidFill>
                  <a:srgbClr val="B0C7D7"/>
                </a:solidFill>
                <a:latin typeface="Inter"/>
              </a:rPr>
              <a:t>не</a:t>
            </a:r>
            <a:r>
              <a:rPr sz="1410" b="0" dirty="0">
                <a:solidFill>
                  <a:srgbClr val="B0C7D7"/>
                </a:solidFill>
                <a:latin typeface="Inter"/>
              </a:rPr>
              <a:t> </a:t>
            </a:r>
            <a:r>
              <a:rPr sz="1410" b="0" dirty="0" err="1">
                <a:solidFill>
                  <a:srgbClr val="B0C7D7"/>
                </a:solidFill>
                <a:latin typeface="Inter"/>
              </a:rPr>
              <a:t>просто</a:t>
            </a:r>
            <a:r>
              <a:rPr sz="1410" b="0" dirty="0">
                <a:solidFill>
                  <a:srgbClr val="B0C7D7"/>
                </a:solidFill>
                <a:latin typeface="Inter"/>
              </a:rPr>
              <a:t> </a:t>
            </a:r>
            <a:r>
              <a:rPr sz="1410" b="0" dirty="0" err="1">
                <a:solidFill>
                  <a:srgbClr val="B0C7D7"/>
                </a:solidFill>
                <a:latin typeface="Inter"/>
              </a:rPr>
              <a:t>собирает</a:t>
            </a:r>
            <a:r>
              <a:rPr sz="1410" b="0" dirty="0">
                <a:solidFill>
                  <a:srgbClr val="B0C7D7"/>
                </a:solidFill>
                <a:latin typeface="Inter"/>
              </a:rPr>
              <a:t> </a:t>
            </a:r>
            <a:r>
              <a:rPr sz="1410" b="0" dirty="0" err="1">
                <a:solidFill>
                  <a:srgbClr val="B0C7D7"/>
                </a:solidFill>
                <a:latin typeface="Inter"/>
              </a:rPr>
              <a:t>корпус</a:t>
            </a:r>
            <a:r>
              <a:rPr sz="1410" b="0" dirty="0">
                <a:solidFill>
                  <a:srgbClr val="B0C7D7"/>
                </a:solidFill>
                <a:latin typeface="Inter"/>
              </a:rPr>
              <a:t> — </a:t>
            </a:r>
            <a:r>
              <a:rPr sz="1410" b="0" dirty="0" err="1">
                <a:solidFill>
                  <a:srgbClr val="B0C7D7"/>
                </a:solidFill>
                <a:latin typeface="Inter"/>
              </a:rPr>
              <a:t>он</a:t>
            </a:r>
            <a:r>
              <a:rPr sz="1410" b="0" dirty="0">
                <a:solidFill>
                  <a:srgbClr val="B0C7D7"/>
                </a:solidFill>
                <a:latin typeface="Inter"/>
              </a:rPr>
              <a:t> </a:t>
            </a:r>
            <a:r>
              <a:rPr sz="1410" b="0" dirty="0" err="1">
                <a:solidFill>
                  <a:srgbClr val="B0C7D7"/>
                </a:solidFill>
                <a:latin typeface="Inter"/>
              </a:rPr>
              <a:t>видит</a:t>
            </a:r>
            <a:r>
              <a:rPr sz="1410" b="0" dirty="0">
                <a:solidFill>
                  <a:srgbClr val="B0C7D7"/>
                </a:solidFill>
                <a:latin typeface="Inter"/>
              </a:rPr>
              <a:t>, </a:t>
            </a:r>
            <a:r>
              <a:rPr sz="1410" b="0" dirty="0" err="1">
                <a:solidFill>
                  <a:srgbClr val="B0C7D7"/>
                </a:solidFill>
                <a:latin typeface="Inter"/>
              </a:rPr>
              <a:t>как</a:t>
            </a:r>
            <a:r>
              <a:rPr sz="1410" b="0" dirty="0">
                <a:solidFill>
                  <a:srgbClr val="B0C7D7"/>
                </a:solidFill>
                <a:latin typeface="Inter"/>
              </a:rPr>
              <a:t> </a:t>
            </a:r>
            <a:r>
              <a:rPr sz="1410" b="0" dirty="0" err="1">
                <a:solidFill>
                  <a:srgbClr val="B0C7D7"/>
                </a:solidFill>
                <a:latin typeface="Inter"/>
              </a:rPr>
              <a:t>устроено</a:t>
            </a:r>
            <a:r>
              <a:rPr sz="1410" b="0" dirty="0">
                <a:solidFill>
                  <a:srgbClr val="B0C7D7"/>
                </a:solidFill>
                <a:latin typeface="Inter"/>
              </a:rPr>
              <a:t> </a:t>
            </a:r>
            <a:r>
              <a:rPr sz="1410" b="0" dirty="0" err="1">
                <a:solidFill>
                  <a:srgbClr val="B0C7D7"/>
                </a:solidFill>
                <a:latin typeface="Inter"/>
              </a:rPr>
              <a:t>движение</a:t>
            </a:r>
            <a:r>
              <a:rPr sz="1410" b="0" dirty="0">
                <a:solidFill>
                  <a:srgbClr val="B0C7D7"/>
                </a:solidFill>
                <a:latin typeface="Inter"/>
              </a:rPr>
              <a:t>.</a:t>
            </a:r>
          </a:p>
        </p:txBody>
      </p:sp>
      <p:sp>
        <p:nvSpPr>
          <p:cNvPr id="6" name="Rectangle 5"/>
          <p:cNvSpPr/>
          <p:nvPr/>
        </p:nvSpPr>
        <p:spPr>
          <a:xfrm>
            <a:off x="420624" y="6519672"/>
            <a:ext cx="11247120" cy="10972"/>
          </a:xfrm>
          <a:prstGeom prst="rect">
            <a:avLst/>
          </a:prstGeom>
          <a:solidFill>
            <a:srgbClr val="2B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6565392"/>
            <a:ext cx="8229600" cy="164592"/>
          </a:xfrm>
          <a:prstGeom prst="rect">
            <a:avLst/>
          </a:prstGeom>
          <a:noFill/>
        </p:spPr>
        <p:txBody>
          <a:bodyPr wrap="square" lIns="0" tIns="0" rIns="0" bIns="0" anchor="ctr">
            <a:noAutofit/>
          </a:bodyPr>
          <a:lstStyle/>
          <a:p>
            <a:pPr algn="l">
              <a:lnSpc>
                <a:spcPct val="100000"/>
              </a:lnSpc>
              <a:spcBef>
                <a:spcPts val="0"/>
              </a:spcBef>
              <a:spcAft>
                <a:spcPts val="0"/>
              </a:spcAft>
            </a:pPr>
            <a:r>
              <a:rPr sz="900" b="0">
                <a:solidFill>
                  <a:srgbClr val="B0C7D7"/>
                </a:solidFill>
                <a:latin typeface="Inter"/>
              </a:rPr>
              <a:t>УЧЕБНЫЙ НАБОР · МЕХАНИКА</a:t>
            </a:r>
          </a:p>
        </p:txBody>
      </p:sp>
      <p:sp>
        <p:nvSpPr>
          <p:cNvPr id="8" name="TextBox 7"/>
          <p:cNvSpPr txBox="1"/>
          <p:nvPr/>
        </p:nvSpPr>
        <p:spPr>
          <a:xfrm>
            <a:off x="10716768" y="6537960"/>
            <a:ext cx="960120" cy="210312"/>
          </a:xfrm>
          <a:prstGeom prst="rect">
            <a:avLst/>
          </a:prstGeom>
          <a:noFill/>
        </p:spPr>
        <p:txBody>
          <a:bodyPr wrap="none" lIns="0" tIns="0" rIns="0" bIns="0" anchor="ctr">
            <a:noAutofit/>
          </a:bodyPr>
          <a:lstStyle/>
          <a:p>
            <a:pPr algn="r"/>
            <a:r>
              <a:rPr sz="910" b="1">
                <a:solidFill>
                  <a:srgbClr val="3AD7F9"/>
                </a:solidFill>
                <a:latin typeface="Inter"/>
              </a:rPr>
              <a:t>13 / 17</a:t>
            </a:r>
          </a:p>
        </p:txBody>
      </p:sp>
      <p:sp>
        <p:nvSpPr>
          <p:cNvPr id="13" name="Rounded Rectangle 12"/>
          <p:cNvSpPr/>
          <p:nvPr/>
        </p:nvSpPr>
        <p:spPr>
          <a:xfrm>
            <a:off x="534736" y="1748266"/>
            <a:ext cx="8739891" cy="4386172"/>
          </a:xfrm>
          <a:prstGeom prst="roundRect">
            <a:avLst>
              <a:gd name="adj" fmla="val 12000"/>
            </a:avLst>
          </a:prstGeom>
          <a:solidFill>
            <a:srgbClr val="132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5905" y="1949434"/>
            <a:ext cx="8170180" cy="1155244"/>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2208" y="2086593"/>
            <a:ext cx="582659" cy="356905"/>
          </a:xfrm>
          <a:prstGeom prst="rect">
            <a:avLst/>
          </a:prstGeom>
          <a:noFill/>
        </p:spPr>
        <p:txBody>
          <a:bodyPr wrap="square" lIns="0" tIns="0" rIns="0" bIns="0" anchor="ctr">
            <a:noAutofit/>
          </a:bodyPr>
          <a:lstStyle/>
          <a:p>
            <a:pPr algn="l">
              <a:lnSpc>
                <a:spcPct val="100000"/>
              </a:lnSpc>
              <a:spcBef>
                <a:spcPts val="0"/>
              </a:spcBef>
              <a:spcAft>
                <a:spcPts val="0"/>
              </a:spcAft>
            </a:pPr>
            <a:r>
              <a:rPr sz="1800" b="1">
                <a:solidFill>
                  <a:srgbClr val="73E2C1"/>
                </a:solidFill>
                <a:latin typeface="Inter"/>
              </a:rPr>
              <a:t>01</a:t>
            </a:r>
          </a:p>
        </p:txBody>
      </p:sp>
      <p:sp>
        <p:nvSpPr>
          <p:cNvPr id="16" name="TextBox 15"/>
          <p:cNvSpPr txBox="1"/>
          <p:nvPr/>
        </p:nvSpPr>
        <p:spPr>
          <a:xfrm>
            <a:off x="1430849" y="2059161"/>
            <a:ext cx="6953067" cy="366297"/>
          </a:xfrm>
          <a:prstGeom prst="rect">
            <a:avLst/>
          </a:prstGeom>
          <a:noFill/>
        </p:spPr>
        <p:txBody>
          <a:bodyPr wrap="square" lIns="0" tIns="0" rIns="0" bIns="0" anchor="ctr">
            <a:noAutofit/>
          </a:bodyPr>
          <a:lstStyle/>
          <a:p>
            <a:pPr algn="l">
              <a:lnSpc>
                <a:spcPct val="100000"/>
              </a:lnSpc>
              <a:spcBef>
                <a:spcPts val="0"/>
              </a:spcBef>
              <a:spcAft>
                <a:spcPts val="0"/>
              </a:spcAft>
            </a:pPr>
            <a:r>
              <a:rPr sz="1500" b="1">
                <a:solidFill>
                  <a:srgbClr val="F4F8FB"/>
                </a:solidFill>
                <a:latin typeface="Inter"/>
              </a:rPr>
              <a:t>Понимает устройство</a:t>
            </a:r>
          </a:p>
        </p:txBody>
      </p:sp>
      <p:sp>
        <p:nvSpPr>
          <p:cNvPr id="17" name="TextBox 16"/>
          <p:cNvSpPr txBox="1"/>
          <p:nvPr/>
        </p:nvSpPr>
        <p:spPr>
          <a:xfrm>
            <a:off x="1430848" y="2434066"/>
            <a:ext cx="6875381" cy="535356"/>
          </a:xfrm>
          <a:prstGeom prst="rect">
            <a:avLst/>
          </a:prstGeom>
          <a:noFill/>
        </p:spPr>
        <p:txBody>
          <a:bodyPr wrap="square" lIns="0" tIns="0" rIns="0" bIns="0" anchor="t">
            <a:noAutofit/>
          </a:bodyPr>
          <a:lstStyle/>
          <a:p>
            <a:pPr algn="l">
              <a:lnSpc>
                <a:spcPct val="108000"/>
              </a:lnSpc>
              <a:spcBef>
                <a:spcPts val="0"/>
              </a:spcBef>
              <a:spcAft>
                <a:spcPts val="0"/>
              </a:spcAft>
            </a:pPr>
            <a:r>
              <a:rPr sz="1160" b="0">
                <a:solidFill>
                  <a:srgbClr val="B0C7D7"/>
                </a:solidFill>
                <a:latin typeface="Inter"/>
              </a:rPr>
              <a:t>Почему колёса вращаются, зачем нужны опоры и передача усилия.</a:t>
            </a:r>
          </a:p>
        </p:txBody>
      </p:sp>
      <p:sp>
        <p:nvSpPr>
          <p:cNvPr id="18" name="Rounded Rectangle 17"/>
          <p:cNvSpPr/>
          <p:nvPr/>
        </p:nvSpPr>
        <p:spPr>
          <a:xfrm>
            <a:off x="735905" y="3247882"/>
            <a:ext cx="8170180" cy="1155244"/>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2208" y="3385041"/>
            <a:ext cx="582659" cy="356905"/>
          </a:xfrm>
          <a:prstGeom prst="rect">
            <a:avLst/>
          </a:prstGeom>
          <a:noFill/>
        </p:spPr>
        <p:txBody>
          <a:bodyPr wrap="square" lIns="0" tIns="0" rIns="0" bIns="0" anchor="ctr">
            <a:noAutofit/>
          </a:bodyPr>
          <a:lstStyle/>
          <a:p>
            <a:pPr algn="l">
              <a:lnSpc>
                <a:spcPct val="100000"/>
              </a:lnSpc>
              <a:spcBef>
                <a:spcPts val="0"/>
              </a:spcBef>
              <a:spcAft>
                <a:spcPts val="0"/>
              </a:spcAft>
            </a:pPr>
            <a:r>
              <a:rPr sz="1800" b="1">
                <a:solidFill>
                  <a:srgbClr val="3AD7F9"/>
                </a:solidFill>
                <a:latin typeface="Inter"/>
              </a:rPr>
              <a:t>02</a:t>
            </a:r>
          </a:p>
        </p:txBody>
      </p:sp>
      <p:sp>
        <p:nvSpPr>
          <p:cNvPr id="20" name="TextBox 19"/>
          <p:cNvSpPr txBox="1"/>
          <p:nvPr/>
        </p:nvSpPr>
        <p:spPr>
          <a:xfrm>
            <a:off x="1430849" y="3357609"/>
            <a:ext cx="6953067" cy="366297"/>
          </a:xfrm>
          <a:prstGeom prst="rect">
            <a:avLst/>
          </a:prstGeom>
          <a:noFill/>
        </p:spPr>
        <p:txBody>
          <a:bodyPr wrap="square" lIns="0" tIns="0" rIns="0" bIns="0" anchor="ctr">
            <a:noAutofit/>
          </a:bodyPr>
          <a:lstStyle/>
          <a:p>
            <a:pPr algn="l">
              <a:lnSpc>
                <a:spcPct val="100000"/>
              </a:lnSpc>
              <a:spcBef>
                <a:spcPts val="0"/>
              </a:spcBef>
              <a:spcAft>
                <a:spcPts val="0"/>
              </a:spcAft>
            </a:pPr>
            <a:r>
              <a:rPr sz="1500" b="1">
                <a:solidFill>
                  <a:srgbClr val="F4F8FB"/>
                </a:solidFill>
                <a:latin typeface="Inter"/>
              </a:rPr>
              <a:t>Осваивает сборку по модели</a:t>
            </a:r>
          </a:p>
        </p:txBody>
      </p:sp>
      <p:sp>
        <p:nvSpPr>
          <p:cNvPr id="21" name="TextBox 20"/>
          <p:cNvSpPr txBox="1"/>
          <p:nvPr/>
        </p:nvSpPr>
        <p:spPr>
          <a:xfrm>
            <a:off x="1430848" y="3732514"/>
            <a:ext cx="6875381" cy="535356"/>
          </a:xfrm>
          <a:prstGeom prst="rect">
            <a:avLst/>
          </a:prstGeom>
          <a:noFill/>
        </p:spPr>
        <p:txBody>
          <a:bodyPr wrap="square" lIns="0" tIns="0" rIns="0" bIns="0" anchor="t">
            <a:noAutofit/>
          </a:bodyPr>
          <a:lstStyle/>
          <a:p>
            <a:pPr algn="l">
              <a:lnSpc>
                <a:spcPct val="108000"/>
              </a:lnSpc>
              <a:spcBef>
                <a:spcPts val="0"/>
              </a:spcBef>
              <a:spcAft>
                <a:spcPts val="0"/>
              </a:spcAft>
            </a:pPr>
            <a:r>
              <a:rPr sz="1160" b="0">
                <a:solidFill>
                  <a:srgbClr val="B0C7D7"/>
                </a:solidFill>
                <a:latin typeface="Inter"/>
              </a:rPr>
              <a:t>Сопоставляет деталь, отверстие, крепёж и её положение в конструкции.</a:t>
            </a:r>
          </a:p>
        </p:txBody>
      </p:sp>
      <p:sp>
        <p:nvSpPr>
          <p:cNvPr id="22" name="Rounded Rectangle 21"/>
          <p:cNvSpPr/>
          <p:nvPr/>
        </p:nvSpPr>
        <p:spPr>
          <a:xfrm>
            <a:off x="735905" y="4546330"/>
            <a:ext cx="8170180" cy="1155244"/>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2208" y="4683489"/>
            <a:ext cx="582659" cy="356905"/>
          </a:xfrm>
          <a:prstGeom prst="rect">
            <a:avLst/>
          </a:prstGeom>
          <a:noFill/>
        </p:spPr>
        <p:txBody>
          <a:bodyPr wrap="square" lIns="0" tIns="0" rIns="0" bIns="0" anchor="ctr">
            <a:noAutofit/>
          </a:bodyPr>
          <a:lstStyle/>
          <a:p>
            <a:pPr algn="l">
              <a:lnSpc>
                <a:spcPct val="100000"/>
              </a:lnSpc>
              <a:spcBef>
                <a:spcPts val="0"/>
              </a:spcBef>
              <a:spcAft>
                <a:spcPts val="0"/>
              </a:spcAft>
            </a:pPr>
            <a:r>
              <a:rPr sz="1800" b="1">
                <a:solidFill>
                  <a:srgbClr val="F3AB5A"/>
                </a:solidFill>
                <a:latin typeface="Inter"/>
              </a:rPr>
              <a:t>03</a:t>
            </a:r>
          </a:p>
        </p:txBody>
      </p:sp>
      <p:sp>
        <p:nvSpPr>
          <p:cNvPr id="24" name="TextBox 23"/>
          <p:cNvSpPr txBox="1"/>
          <p:nvPr/>
        </p:nvSpPr>
        <p:spPr>
          <a:xfrm>
            <a:off x="1430849" y="4656057"/>
            <a:ext cx="6953067" cy="366297"/>
          </a:xfrm>
          <a:prstGeom prst="rect">
            <a:avLst/>
          </a:prstGeom>
          <a:noFill/>
        </p:spPr>
        <p:txBody>
          <a:bodyPr wrap="square" lIns="0" tIns="0" rIns="0" bIns="0" anchor="ctr">
            <a:noAutofit/>
          </a:bodyPr>
          <a:lstStyle/>
          <a:p>
            <a:pPr algn="l">
              <a:lnSpc>
                <a:spcPct val="100000"/>
              </a:lnSpc>
              <a:spcBef>
                <a:spcPts val="0"/>
              </a:spcBef>
              <a:spcAft>
                <a:spcPts val="0"/>
              </a:spcAft>
            </a:pPr>
            <a:r>
              <a:rPr sz="1500" b="1">
                <a:solidFill>
                  <a:srgbClr val="F4F8FB"/>
                </a:solidFill>
                <a:latin typeface="Inter"/>
              </a:rPr>
              <a:t>Получает опыт прототипирования</a:t>
            </a:r>
          </a:p>
        </p:txBody>
      </p:sp>
      <p:sp>
        <p:nvSpPr>
          <p:cNvPr id="25" name="TextBox 24"/>
          <p:cNvSpPr txBox="1"/>
          <p:nvPr/>
        </p:nvSpPr>
        <p:spPr>
          <a:xfrm>
            <a:off x="1430848" y="5030962"/>
            <a:ext cx="6875381" cy="535356"/>
          </a:xfrm>
          <a:prstGeom prst="rect">
            <a:avLst/>
          </a:prstGeom>
          <a:noFill/>
        </p:spPr>
        <p:txBody>
          <a:bodyPr wrap="square" lIns="0" tIns="0" rIns="0" bIns="0" anchor="t">
            <a:noAutofit/>
          </a:bodyPr>
          <a:lstStyle/>
          <a:p>
            <a:pPr algn="l">
              <a:lnSpc>
                <a:spcPct val="108000"/>
              </a:lnSpc>
              <a:spcBef>
                <a:spcPts val="0"/>
              </a:spcBef>
              <a:spcAft>
                <a:spcPts val="0"/>
              </a:spcAft>
            </a:pPr>
            <a:r>
              <a:rPr sz="1160" b="0">
                <a:solidFill>
                  <a:srgbClr val="B0C7D7"/>
                </a:solidFill>
                <a:latin typeface="Inter"/>
              </a:rPr>
              <a:t>Сравнивает размеры, проверяет посадку, исправляет неточности.</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824"/>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3AD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0624" y="256032"/>
            <a:ext cx="4389120" cy="228600"/>
          </a:xfrm>
          <a:prstGeom prst="rect">
            <a:avLst/>
          </a:prstGeom>
          <a:noFill/>
        </p:spPr>
        <p:txBody>
          <a:bodyPr wrap="square" lIns="0" tIns="0" rIns="0" bIns="0" anchor="ctr">
            <a:noAutofit/>
          </a:bodyPr>
          <a:lstStyle/>
          <a:p>
            <a:pPr algn="l">
              <a:lnSpc>
                <a:spcPct val="100000"/>
              </a:lnSpc>
              <a:spcBef>
                <a:spcPts val="0"/>
              </a:spcBef>
              <a:spcAft>
                <a:spcPts val="0"/>
              </a:spcAft>
            </a:pPr>
            <a:r>
              <a:rPr sz="900" b="1">
                <a:solidFill>
                  <a:srgbClr val="3AD7F9"/>
                </a:solidFill>
                <a:latin typeface="Inter"/>
              </a:rPr>
              <a:t>PIV 2026 · КОМАНДА 5</a:t>
            </a:r>
          </a:p>
        </p:txBody>
      </p:sp>
      <p:sp>
        <p:nvSpPr>
          <p:cNvPr id="4" name="TextBox 3"/>
          <p:cNvSpPr txBox="1"/>
          <p:nvPr/>
        </p:nvSpPr>
        <p:spPr>
          <a:xfrm>
            <a:off x="420624" y="621792"/>
            <a:ext cx="11338560" cy="630936"/>
          </a:xfrm>
          <a:prstGeom prst="rect">
            <a:avLst/>
          </a:prstGeom>
          <a:noFill/>
        </p:spPr>
        <p:txBody>
          <a:bodyPr wrap="square" lIns="0" tIns="0" rIns="0" bIns="0" anchor="ctr">
            <a:noAutofit/>
          </a:bodyPr>
          <a:lstStyle/>
          <a:p>
            <a:pPr algn="l">
              <a:lnSpc>
                <a:spcPct val="100000"/>
              </a:lnSpc>
              <a:spcBef>
                <a:spcPts val="0"/>
              </a:spcBef>
              <a:spcAft>
                <a:spcPts val="0"/>
              </a:spcAft>
            </a:pPr>
            <a:r>
              <a:rPr sz="2900" b="1">
                <a:solidFill>
                  <a:srgbClr val="F4F8FB"/>
                </a:solidFill>
                <a:latin typeface="Inter"/>
              </a:rPr>
              <a:t>Электроника: робот оживает на глазах</a:t>
            </a:r>
          </a:p>
        </p:txBody>
      </p:sp>
      <p:sp>
        <p:nvSpPr>
          <p:cNvPr id="5" name="TextBox 4"/>
          <p:cNvSpPr txBox="1"/>
          <p:nvPr/>
        </p:nvSpPr>
        <p:spPr>
          <a:xfrm>
            <a:off x="438912" y="1298448"/>
            <a:ext cx="11018520" cy="347472"/>
          </a:xfrm>
          <a:prstGeom prst="rect">
            <a:avLst/>
          </a:prstGeom>
          <a:noFill/>
        </p:spPr>
        <p:txBody>
          <a:bodyPr wrap="square" lIns="0" tIns="0" rIns="0" bIns="0" anchor="ctr">
            <a:noAutofit/>
          </a:bodyPr>
          <a:lstStyle/>
          <a:p>
            <a:pPr algn="l">
              <a:lnSpc>
                <a:spcPct val="100000"/>
              </a:lnSpc>
              <a:spcBef>
                <a:spcPts val="0"/>
              </a:spcBef>
              <a:spcAft>
                <a:spcPts val="0"/>
              </a:spcAft>
            </a:pPr>
            <a:r>
              <a:rPr sz="1410" b="0" dirty="0" err="1">
                <a:solidFill>
                  <a:srgbClr val="B0C7D7"/>
                </a:solidFill>
                <a:latin typeface="Inter"/>
              </a:rPr>
              <a:t>Ребёнок</a:t>
            </a:r>
            <a:r>
              <a:rPr sz="1410" b="0" dirty="0">
                <a:solidFill>
                  <a:srgbClr val="B0C7D7"/>
                </a:solidFill>
                <a:latin typeface="Inter"/>
              </a:rPr>
              <a:t> </a:t>
            </a:r>
            <a:r>
              <a:rPr sz="1410" b="0" dirty="0" err="1">
                <a:solidFill>
                  <a:srgbClr val="B0C7D7"/>
                </a:solidFill>
                <a:latin typeface="Inter"/>
              </a:rPr>
              <a:t>знакомится</a:t>
            </a:r>
            <a:r>
              <a:rPr sz="1410" b="0" dirty="0">
                <a:solidFill>
                  <a:srgbClr val="B0C7D7"/>
                </a:solidFill>
                <a:latin typeface="Inter"/>
              </a:rPr>
              <a:t> с </a:t>
            </a:r>
            <a:r>
              <a:rPr sz="1410" b="0" dirty="0" err="1">
                <a:solidFill>
                  <a:srgbClr val="B0C7D7"/>
                </a:solidFill>
                <a:latin typeface="Inter"/>
              </a:rPr>
              <a:t>сигналом</a:t>
            </a:r>
            <a:r>
              <a:rPr sz="1410" b="0" dirty="0">
                <a:solidFill>
                  <a:srgbClr val="B0C7D7"/>
                </a:solidFill>
                <a:latin typeface="Inter"/>
              </a:rPr>
              <a:t>, </a:t>
            </a:r>
            <a:r>
              <a:rPr sz="1410" b="0" dirty="0" err="1">
                <a:solidFill>
                  <a:srgbClr val="B0C7D7"/>
                </a:solidFill>
                <a:latin typeface="Inter"/>
              </a:rPr>
              <a:t>питанием</a:t>
            </a:r>
            <a:r>
              <a:rPr sz="1410" b="0" dirty="0">
                <a:solidFill>
                  <a:srgbClr val="B0C7D7"/>
                </a:solidFill>
                <a:latin typeface="Inter"/>
              </a:rPr>
              <a:t> и </a:t>
            </a:r>
            <a:r>
              <a:rPr sz="1410" b="0" dirty="0" err="1">
                <a:solidFill>
                  <a:srgbClr val="B0C7D7"/>
                </a:solidFill>
                <a:latin typeface="Inter"/>
              </a:rPr>
              <a:t>связью</a:t>
            </a:r>
            <a:r>
              <a:rPr sz="1410" b="0" dirty="0">
                <a:solidFill>
                  <a:srgbClr val="B0C7D7"/>
                </a:solidFill>
                <a:latin typeface="Inter"/>
              </a:rPr>
              <a:t> </a:t>
            </a:r>
            <a:r>
              <a:rPr sz="1410" b="0" dirty="0" err="1">
                <a:solidFill>
                  <a:srgbClr val="B0C7D7"/>
                </a:solidFill>
                <a:latin typeface="Inter"/>
              </a:rPr>
              <a:t>между</a:t>
            </a:r>
            <a:r>
              <a:rPr sz="1410" b="0" dirty="0">
                <a:solidFill>
                  <a:srgbClr val="B0C7D7"/>
                </a:solidFill>
                <a:latin typeface="Inter"/>
              </a:rPr>
              <a:t> </a:t>
            </a:r>
            <a:r>
              <a:rPr sz="1410" b="0" dirty="0" err="1">
                <a:solidFill>
                  <a:srgbClr val="B0C7D7"/>
                </a:solidFill>
                <a:latin typeface="Inter"/>
              </a:rPr>
              <a:t>модулями</a:t>
            </a:r>
            <a:r>
              <a:rPr sz="1410" b="0" dirty="0">
                <a:solidFill>
                  <a:srgbClr val="B0C7D7"/>
                </a:solidFill>
                <a:latin typeface="Inter"/>
              </a:rPr>
              <a:t>.</a:t>
            </a:r>
          </a:p>
        </p:txBody>
      </p:sp>
      <p:sp>
        <p:nvSpPr>
          <p:cNvPr id="6" name="Rectangle 5"/>
          <p:cNvSpPr/>
          <p:nvPr/>
        </p:nvSpPr>
        <p:spPr>
          <a:xfrm>
            <a:off x="420624" y="6519672"/>
            <a:ext cx="11247120" cy="10972"/>
          </a:xfrm>
          <a:prstGeom prst="rect">
            <a:avLst/>
          </a:prstGeom>
          <a:solidFill>
            <a:srgbClr val="2B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6565392"/>
            <a:ext cx="8229600" cy="164592"/>
          </a:xfrm>
          <a:prstGeom prst="rect">
            <a:avLst/>
          </a:prstGeom>
          <a:noFill/>
        </p:spPr>
        <p:txBody>
          <a:bodyPr wrap="square" lIns="0" tIns="0" rIns="0" bIns="0" anchor="ctr">
            <a:noAutofit/>
          </a:bodyPr>
          <a:lstStyle/>
          <a:p>
            <a:pPr algn="l">
              <a:lnSpc>
                <a:spcPct val="100000"/>
              </a:lnSpc>
              <a:spcBef>
                <a:spcPts val="0"/>
              </a:spcBef>
              <a:spcAft>
                <a:spcPts val="0"/>
              </a:spcAft>
            </a:pPr>
            <a:r>
              <a:rPr sz="900" b="0">
                <a:solidFill>
                  <a:srgbClr val="B0C7D7"/>
                </a:solidFill>
                <a:latin typeface="Inter"/>
              </a:rPr>
              <a:t>УЧЕБНЫЙ НАБОР · ЭЛЕКТРОНИКА</a:t>
            </a:r>
          </a:p>
        </p:txBody>
      </p:sp>
      <p:sp>
        <p:nvSpPr>
          <p:cNvPr id="8" name="TextBox 7"/>
          <p:cNvSpPr txBox="1"/>
          <p:nvPr/>
        </p:nvSpPr>
        <p:spPr>
          <a:xfrm>
            <a:off x="10716768" y="6537960"/>
            <a:ext cx="960120" cy="210312"/>
          </a:xfrm>
          <a:prstGeom prst="rect">
            <a:avLst/>
          </a:prstGeom>
          <a:noFill/>
        </p:spPr>
        <p:txBody>
          <a:bodyPr wrap="none" lIns="0" tIns="0" rIns="0" bIns="0" anchor="ctr">
            <a:noAutofit/>
          </a:bodyPr>
          <a:lstStyle/>
          <a:p>
            <a:pPr algn="r"/>
            <a:r>
              <a:rPr sz="910" b="1">
                <a:solidFill>
                  <a:srgbClr val="3AD7F9"/>
                </a:solidFill>
                <a:latin typeface="Inter"/>
              </a:rPr>
              <a:t>14 / 17</a:t>
            </a:r>
          </a:p>
        </p:txBody>
      </p:sp>
      <p:sp>
        <p:nvSpPr>
          <p:cNvPr id="13" name="Rounded Rectangle 12"/>
          <p:cNvSpPr/>
          <p:nvPr/>
        </p:nvSpPr>
        <p:spPr>
          <a:xfrm>
            <a:off x="438911" y="1947672"/>
            <a:ext cx="10365937" cy="4153576"/>
          </a:xfrm>
          <a:prstGeom prst="roundRect">
            <a:avLst>
              <a:gd name="adj" fmla="val 12000"/>
            </a:avLst>
          </a:prstGeom>
          <a:solidFill>
            <a:srgbClr val="132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4944" y="2221991"/>
            <a:ext cx="2851646" cy="1049511"/>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3" y="2432304"/>
            <a:ext cx="2581348" cy="311296"/>
          </a:xfrm>
          <a:prstGeom prst="rect">
            <a:avLst/>
          </a:prstGeom>
          <a:noFill/>
        </p:spPr>
        <p:txBody>
          <a:bodyPr wrap="square" lIns="0" tIns="0" rIns="0" bIns="0" anchor="ctr">
            <a:noAutofit/>
          </a:bodyPr>
          <a:lstStyle/>
          <a:p>
            <a:pPr algn="ctr">
              <a:lnSpc>
                <a:spcPct val="100000"/>
              </a:lnSpc>
              <a:spcBef>
                <a:spcPts val="0"/>
              </a:spcBef>
              <a:spcAft>
                <a:spcPts val="0"/>
              </a:spcAft>
            </a:pPr>
            <a:r>
              <a:rPr sz="1500" b="1">
                <a:solidFill>
                  <a:srgbClr val="3AD7F9"/>
                </a:solidFill>
                <a:latin typeface="Inter"/>
              </a:rPr>
              <a:t>СМАРТФОН</a:t>
            </a:r>
          </a:p>
        </p:txBody>
      </p:sp>
      <p:sp>
        <p:nvSpPr>
          <p:cNvPr id="16" name="TextBox 15"/>
          <p:cNvSpPr txBox="1"/>
          <p:nvPr/>
        </p:nvSpPr>
        <p:spPr>
          <a:xfrm>
            <a:off x="786383" y="2816352"/>
            <a:ext cx="2581348" cy="266825"/>
          </a:xfrm>
          <a:prstGeom prst="rect">
            <a:avLst/>
          </a:prstGeom>
          <a:noFill/>
        </p:spPr>
        <p:txBody>
          <a:bodyPr wrap="square" lIns="0" tIns="0" rIns="0" bIns="0" anchor="ctr">
            <a:noAutofit/>
          </a:bodyPr>
          <a:lstStyle/>
          <a:p>
            <a:pPr algn="ctr">
              <a:lnSpc>
                <a:spcPct val="100000"/>
              </a:lnSpc>
              <a:spcBef>
                <a:spcPts val="0"/>
              </a:spcBef>
              <a:spcAft>
                <a:spcPts val="0"/>
              </a:spcAft>
            </a:pPr>
            <a:r>
              <a:rPr sz="1200" b="0" dirty="0" err="1">
                <a:solidFill>
                  <a:srgbClr val="B0C7D7"/>
                </a:solidFill>
                <a:latin typeface="Inter"/>
              </a:rPr>
              <a:t>команда</a:t>
            </a:r>
            <a:endParaRPr sz="1200" b="0" dirty="0">
              <a:solidFill>
                <a:srgbClr val="B0C7D7"/>
              </a:solidFill>
              <a:latin typeface="Inter"/>
            </a:endParaRPr>
          </a:p>
        </p:txBody>
      </p:sp>
      <p:sp>
        <p:nvSpPr>
          <p:cNvPr id="17" name="Rounded Rectangle 16"/>
          <p:cNvSpPr/>
          <p:nvPr/>
        </p:nvSpPr>
        <p:spPr>
          <a:xfrm>
            <a:off x="2852928" y="2221991"/>
            <a:ext cx="2851646" cy="1049511"/>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44368" y="2432304"/>
            <a:ext cx="2581348" cy="311296"/>
          </a:xfrm>
          <a:prstGeom prst="rect">
            <a:avLst/>
          </a:prstGeom>
          <a:noFill/>
        </p:spPr>
        <p:txBody>
          <a:bodyPr wrap="square" lIns="0" tIns="0" rIns="0" bIns="0" anchor="ctr">
            <a:noAutofit/>
          </a:bodyPr>
          <a:lstStyle/>
          <a:p>
            <a:pPr algn="ctr">
              <a:lnSpc>
                <a:spcPct val="100000"/>
              </a:lnSpc>
              <a:spcBef>
                <a:spcPts val="0"/>
              </a:spcBef>
              <a:spcAft>
                <a:spcPts val="0"/>
              </a:spcAft>
            </a:pPr>
            <a:r>
              <a:rPr sz="1500" b="1">
                <a:solidFill>
                  <a:srgbClr val="73E2C1"/>
                </a:solidFill>
                <a:latin typeface="Inter"/>
              </a:rPr>
              <a:t>ESP32</a:t>
            </a:r>
          </a:p>
        </p:txBody>
      </p:sp>
      <p:sp>
        <p:nvSpPr>
          <p:cNvPr id="19" name="TextBox 18"/>
          <p:cNvSpPr txBox="1"/>
          <p:nvPr/>
        </p:nvSpPr>
        <p:spPr>
          <a:xfrm>
            <a:off x="2944368" y="2816352"/>
            <a:ext cx="2581348" cy="266825"/>
          </a:xfrm>
          <a:prstGeom prst="rect">
            <a:avLst/>
          </a:prstGeom>
          <a:noFill/>
        </p:spPr>
        <p:txBody>
          <a:bodyPr wrap="square" lIns="0" tIns="0" rIns="0" bIns="0" anchor="ctr">
            <a:noAutofit/>
          </a:bodyPr>
          <a:lstStyle/>
          <a:p>
            <a:pPr algn="ctr">
              <a:lnSpc>
                <a:spcPct val="100000"/>
              </a:lnSpc>
              <a:spcBef>
                <a:spcPts val="0"/>
              </a:spcBef>
              <a:spcAft>
                <a:spcPts val="0"/>
              </a:spcAft>
            </a:pPr>
            <a:r>
              <a:rPr sz="1200" b="0">
                <a:solidFill>
                  <a:srgbClr val="B0C7D7"/>
                </a:solidFill>
                <a:latin typeface="Inter"/>
              </a:rPr>
              <a:t>контроллер</a:t>
            </a:r>
          </a:p>
        </p:txBody>
      </p:sp>
      <p:sp>
        <p:nvSpPr>
          <p:cNvPr id="20" name="Rounded Rectangle 19"/>
          <p:cNvSpPr/>
          <p:nvPr/>
        </p:nvSpPr>
        <p:spPr>
          <a:xfrm>
            <a:off x="5010912" y="2221991"/>
            <a:ext cx="2851646" cy="1049511"/>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02352" y="2432304"/>
            <a:ext cx="2581348" cy="311296"/>
          </a:xfrm>
          <a:prstGeom prst="rect">
            <a:avLst/>
          </a:prstGeom>
          <a:noFill/>
        </p:spPr>
        <p:txBody>
          <a:bodyPr wrap="square" lIns="0" tIns="0" rIns="0" bIns="0" anchor="ctr">
            <a:noAutofit/>
          </a:bodyPr>
          <a:lstStyle/>
          <a:p>
            <a:pPr algn="ctr">
              <a:lnSpc>
                <a:spcPct val="100000"/>
              </a:lnSpc>
              <a:spcBef>
                <a:spcPts val="0"/>
              </a:spcBef>
              <a:spcAft>
                <a:spcPts val="0"/>
              </a:spcAft>
            </a:pPr>
            <a:r>
              <a:rPr sz="1500" b="1">
                <a:solidFill>
                  <a:srgbClr val="F3AB5A"/>
                </a:solidFill>
                <a:latin typeface="Inter"/>
              </a:rPr>
              <a:t>ПРИВОД</a:t>
            </a:r>
          </a:p>
        </p:txBody>
      </p:sp>
      <p:sp>
        <p:nvSpPr>
          <p:cNvPr id="22" name="TextBox 21"/>
          <p:cNvSpPr txBox="1"/>
          <p:nvPr/>
        </p:nvSpPr>
        <p:spPr>
          <a:xfrm>
            <a:off x="5102352" y="2816352"/>
            <a:ext cx="2581348" cy="266825"/>
          </a:xfrm>
          <a:prstGeom prst="rect">
            <a:avLst/>
          </a:prstGeom>
          <a:noFill/>
        </p:spPr>
        <p:txBody>
          <a:bodyPr wrap="square" lIns="0" tIns="0" rIns="0" bIns="0" anchor="ctr">
            <a:noAutofit/>
          </a:bodyPr>
          <a:lstStyle/>
          <a:p>
            <a:pPr algn="ctr">
              <a:lnSpc>
                <a:spcPct val="100000"/>
              </a:lnSpc>
              <a:spcBef>
                <a:spcPts val="0"/>
              </a:spcBef>
              <a:spcAft>
                <a:spcPts val="0"/>
              </a:spcAft>
            </a:pPr>
            <a:r>
              <a:rPr sz="1200" b="0">
                <a:solidFill>
                  <a:srgbClr val="B0C7D7"/>
                </a:solidFill>
                <a:latin typeface="Inter"/>
              </a:rPr>
              <a:t>движение</a:t>
            </a:r>
          </a:p>
        </p:txBody>
      </p:sp>
      <p:sp>
        <p:nvSpPr>
          <p:cNvPr id="23" name="TextBox 22"/>
          <p:cNvSpPr txBox="1"/>
          <p:nvPr/>
        </p:nvSpPr>
        <p:spPr>
          <a:xfrm>
            <a:off x="2596895" y="2496312"/>
            <a:ext cx="378417" cy="400238"/>
          </a:xfrm>
          <a:prstGeom prst="rect">
            <a:avLst/>
          </a:prstGeom>
          <a:noFill/>
        </p:spPr>
        <p:txBody>
          <a:bodyPr wrap="square" lIns="0" tIns="0" rIns="0" bIns="0" anchor="ctr">
            <a:noAutofit/>
          </a:bodyPr>
          <a:lstStyle/>
          <a:p>
            <a:pPr algn="ctr">
              <a:lnSpc>
                <a:spcPct val="100000"/>
              </a:lnSpc>
              <a:spcBef>
                <a:spcPts val="0"/>
              </a:spcBef>
              <a:spcAft>
                <a:spcPts val="0"/>
              </a:spcAft>
            </a:pPr>
            <a:r>
              <a:rPr sz="1800" b="1">
                <a:solidFill>
                  <a:srgbClr val="F4F8FB"/>
                </a:solidFill>
                <a:latin typeface="Inter"/>
              </a:rPr>
              <a:t>→</a:t>
            </a:r>
          </a:p>
        </p:txBody>
      </p:sp>
      <p:sp>
        <p:nvSpPr>
          <p:cNvPr id="24" name="TextBox 23"/>
          <p:cNvSpPr txBox="1"/>
          <p:nvPr/>
        </p:nvSpPr>
        <p:spPr>
          <a:xfrm>
            <a:off x="4754879" y="2496312"/>
            <a:ext cx="378417" cy="400238"/>
          </a:xfrm>
          <a:prstGeom prst="rect">
            <a:avLst/>
          </a:prstGeom>
          <a:noFill/>
        </p:spPr>
        <p:txBody>
          <a:bodyPr wrap="square" lIns="0" tIns="0" rIns="0" bIns="0" anchor="ctr">
            <a:noAutofit/>
          </a:bodyPr>
          <a:lstStyle/>
          <a:p>
            <a:pPr algn="ctr">
              <a:lnSpc>
                <a:spcPct val="100000"/>
              </a:lnSpc>
              <a:spcBef>
                <a:spcPts val="0"/>
              </a:spcBef>
              <a:spcAft>
                <a:spcPts val="0"/>
              </a:spcAft>
            </a:pPr>
            <a:r>
              <a:rPr sz="1800" b="1">
                <a:solidFill>
                  <a:srgbClr val="F4F8FB"/>
                </a:solidFill>
                <a:latin typeface="Inter"/>
              </a:rPr>
              <a:t>→</a:t>
            </a:r>
          </a:p>
        </p:txBody>
      </p:sp>
      <p:sp>
        <p:nvSpPr>
          <p:cNvPr id="25" name="Rectangle 24"/>
          <p:cNvSpPr/>
          <p:nvPr/>
        </p:nvSpPr>
        <p:spPr>
          <a:xfrm>
            <a:off x="722375" y="3611879"/>
            <a:ext cx="9528013" cy="47399"/>
          </a:xfrm>
          <a:prstGeom prst="rect">
            <a:avLst/>
          </a:prstGeom>
          <a:solidFill>
            <a:srgbClr val="2B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76656" y="3767327"/>
            <a:ext cx="9676676" cy="889417"/>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3904488"/>
            <a:ext cx="608171" cy="337978"/>
          </a:xfrm>
          <a:prstGeom prst="rect">
            <a:avLst/>
          </a:prstGeom>
          <a:noFill/>
        </p:spPr>
        <p:txBody>
          <a:bodyPr wrap="square" lIns="0" tIns="0" rIns="0" bIns="0" anchor="ctr">
            <a:noAutofit/>
          </a:bodyPr>
          <a:lstStyle/>
          <a:p>
            <a:pPr algn="l">
              <a:lnSpc>
                <a:spcPct val="100000"/>
              </a:lnSpc>
              <a:spcBef>
                <a:spcPts val="0"/>
              </a:spcBef>
              <a:spcAft>
                <a:spcPts val="0"/>
              </a:spcAft>
            </a:pPr>
            <a:r>
              <a:rPr sz="1800" b="1">
                <a:solidFill>
                  <a:srgbClr val="73E2C1"/>
                </a:solidFill>
                <a:latin typeface="Inter"/>
              </a:rPr>
              <a:t>01</a:t>
            </a:r>
          </a:p>
        </p:txBody>
      </p:sp>
      <p:sp>
        <p:nvSpPr>
          <p:cNvPr id="28" name="TextBox 27"/>
          <p:cNvSpPr txBox="1"/>
          <p:nvPr/>
        </p:nvSpPr>
        <p:spPr>
          <a:xfrm>
            <a:off x="1371599" y="3877056"/>
            <a:ext cx="8406275" cy="346872"/>
          </a:xfrm>
          <a:prstGeom prst="rect">
            <a:avLst/>
          </a:prstGeom>
          <a:noFill/>
        </p:spPr>
        <p:txBody>
          <a:bodyPr wrap="square" lIns="0" tIns="0" rIns="0" bIns="0" anchor="ctr">
            <a:noAutofit/>
          </a:bodyPr>
          <a:lstStyle/>
          <a:p>
            <a:pPr algn="l">
              <a:lnSpc>
                <a:spcPct val="100000"/>
              </a:lnSpc>
              <a:spcBef>
                <a:spcPts val="0"/>
              </a:spcBef>
              <a:spcAft>
                <a:spcPts val="0"/>
              </a:spcAft>
            </a:pPr>
            <a:r>
              <a:rPr sz="1500" b="1" dirty="0">
                <a:solidFill>
                  <a:srgbClr val="F4F8FB"/>
                </a:solidFill>
                <a:latin typeface="Inter"/>
              </a:rPr>
              <a:t>Подключает </a:t>
            </a:r>
            <a:r>
              <a:rPr sz="1500" b="1" dirty="0" err="1">
                <a:solidFill>
                  <a:srgbClr val="F4F8FB"/>
                </a:solidFill>
                <a:latin typeface="Inter"/>
              </a:rPr>
              <a:t>модули</a:t>
            </a:r>
            <a:endParaRPr sz="1500" b="1" dirty="0">
              <a:solidFill>
                <a:srgbClr val="F4F8FB"/>
              </a:solidFill>
              <a:latin typeface="Inter"/>
            </a:endParaRPr>
          </a:p>
        </p:txBody>
      </p:sp>
      <p:sp>
        <p:nvSpPr>
          <p:cNvPr id="29" name="TextBox 28"/>
          <p:cNvSpPr txBox="1"/>
          <p:nvPr/>
        </p:nvSpPr>
        <p:spPr>
          <a:xfrm>
            <a:off x="1371599" y="4251960"/>
            <a:ext cx="8325185" cy="302401"/>
          </a:xfrm>
          <a:prstGeom prst="rect">
            <a:avLst/>
          </a:prstGeom>
          <a:noFill/>
        </p:spPr>
        <p:txBody>
          <a:bodyPr wrap="square" lIns="0" tIns="0" rIns="0" bIns="0" anchor="t">
            <a:noAutofit/>
          </a:bodyPr>
          <a:lstStyle/>
          <a:p>
            <a:pPr algn="l">
              <a:lnSpc>
                <a:spcPct val="108000"/>
              </a:lnSpc>
              <a:spcBef>
                <a:spcPts val="0"/>
              </a:spcBef>
              <a:spcAft>
                <a:spcPts val="0"/>
              </a:spcAft>
            </a:pPr>
            <a:r>
              <a:rPr sz="1160" b="0">
                <a:solidFill>
                  <a:srgbClr val="B0C7D7"/>
                </a:solidFill>
                <a:latin typeface="Inter"/>
              </a:rPr>
              <a:t>Учится отличать питание, общий провод и управляющий сигнал.</a:t>
            </a:r>
          </a:p>
        </p:txBody>
      </p:sp>
      <p:sp>
        <p:nvSpPr>
          <p:cNvPr id="30" name="Rounded Rectangle 29"/>
          <p:cNvSpPr/>
          <p:nvPr/>
        </p:nvSpPr>
        <p:spPr>
          <a:xfrm>
            <a:off x="676656" y="4800599"/>
            <a:ext cx="9676676" cy="889417"/>
          </a:xfrm>
          <a:prstGeom prst="roundRect">
            <a:avLst>
              <a:gd name="adj" fmla="val 12000"/>
            </a:avLst>
          </a:prstGeom>
          <a:solidFill>
            <a:srgbClr val="183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59" y="4937760"/>
            <a:ext cx="608171" cy="337978"/>
          </a:xfrm>
          <a:prstGeom prst="rect">
            <a:avLst/>
          </a:prstGeom>
          <a:noFill/>
        </p:spPr>
        <p:txBody>
          <a:bodyPr wrap="square" lIns="0" tIns="0" rIns="0" bIns="0" anchor="ctr">
            <a:noAutofit/>
          </a:bodyPr>
          <a:lstStyle/>
          <a:p>
            <a:pPr algn="l">
              <a:lnSpc>
                <a:spcPct val="100000"/>
              </a:lnSpc>
              <a:spcBef>
                <a:spcPts val="0"/>
              </a:spcBef>
              <a:spcAft>
                <a:spcPts val="0"/>
              </a:spcAft>
            </a:pPr>
            <a:r>
              <a:rPr sz="1800" b="1">
                <a:solidFill>
                  <a:srgbClr val="3AD7F9"/>
                </a:solidFill>
                <a:latin typeface="Inter"/>
              </a:rPr>
              <a:t>02</a:t>
            </a:r>
          </a:p>
        </p:txBody>
      </p:sp>
      <p:sp>
        <p:nvSpPr>
          <p:cNvPr id="32" name="TextBox 31"/>
          <p:cNvSpPr txBox="1"/>
          <p:nvPr/>
        </p:nvSpPr>
        <p:spPr>
          <a:xfrm>
            <a:off x="1371599" y="4910328"/>
            <a:ext cx="8406275" cy="346872"/>
          </a:xfrm>
          <a:prstGeom prst="rect">
            <a:avLst/>
          </a:prstGeom>
          <a:noFill/>
        </p:spPr>
        <p:txBody>
          <a:bodyPr wrap="square" lIns="0" tIns="0" rIns="0" bIns="0" anchor="ctr">
            <a:noAutofit/>
          </a:bodyPr>
          <a:lstStyle/>
          <a:p>
            <a:pPr algn="l">
              <a:lnSpc>
                <a:spcPct val="100000"/>
              </a:lnSpc>
              <a:spcBef>
                <a:spcPts val="0"/>
              </a:spcBef>
              <a:spcAft>
                <a:spcPts val="0"/>
              </a:spcAft>
            </a:pPr>
            <a:r>
              <a:rPr sz="1500" b="1">
                <a:solidFill>
                  <a:srgbClr val="F4F8FB"/>
                </a:solidFill>
                <a:latin typeface="Inter"/>
              </a:rPr>
              <a:t>Проверяет причинно-следственную связь</a:t>
            </a:r>
          </a:p>
        </p:txBody>
      </p:sp>
      <p:sp>
        <p:nvSpPr>
          <p:cNvPr id="33" name="TextBox 32"/>
          <p:cNvSpPr txBox="1"/>
          <p:nvPr/>
        </p:nvSpPr>
        <p:spPr>
          <a:xfrm>
            <a:off x="1371599" y="5285232"/>
            <a:ext cx="8325185" cy="302401"/>
          </a:xfrm>
          <a:prstGeom prst="rect">
            <a:avLst/>
          </a:prstGeom>
          <a:noFill/>
        </p:spPr>
        <p:txBody>
          <a:bodyPr wrap="square" lIns="0" tIns="0" rIns="0" bIns="0" anchor="t">
            <a:noAutofit/>
          </a:bodyPr>
          <a:lstStyle/>
          <a:p>
            <a:pPr algn="l">
              <a:lnSpc>
                <a:spcPct val="108000"/>
              </a:lnSpc>
              <a:spcBef>
                <a:spcPts val="0"/>
              </a:spcBef>
              <a:spcAft>
                <a:spcPts val="0"/>
              </a:spcAft>
            </a:pPr>
            <a:r>
              <a:rPr sz="1160" b="0">
                <a:solidFill>
                  <a:srgbClr val="B0C7D7"/>
                </a:solidFill>
                <a:latin typeface="Inter"/>
              </a:rPr>
              <a:t>Нажал команду → изменилось поведение робота.</a:t>
            </a:r>
          </a:p>
        </p:txBody>
      </p:sp>
      <p:sp>
        <p:nvSpPr>
          <p:cNvPr id="34" name="TextBox 33"/>
          <p:cNvSpPr txBox="1"/>
          <p:nvPr/>
        </p:nvSpPr>
        <p:spPr>
          <a:xfrm>
            <a:off x="740664" y="5934456"/>
            <a:ext cx="9487468" cy="195671"/>
          </a:xfrm>
          <a:prstGeom prst="rect">
            <a:avLst/>
          </a:prstGeom>
          <a:noFill/>
        </p:spPr>
        <p:txBody>
          <a:bodyPr wrap="square" lIns="0" tIns="0" rIns="0" bIns="0" anchor="ctr">
            <a:noAutofit/>
          </a:bodyPr>
          <a:lstStyle/>
          <a:p>
            <a:pPr algn="l">
              <a:lnSpc>
                <a:spcPct val="100000"/>
              </a:lnSpc>
              <a:spcBef>
                <a:spcPts val="0"/>
              </a:spcBef>
              <a:spcAft>
                <a:spcPts val="0"/>
              </a:spcAft>
            </a:pPr>
            <a:r>
              <a:rPr sz="980" b="0">
                <a:solidFill>
                  <a:srgbClr val="F3AB5A"/>
                </a:solidFill>
                <a:latin typeface="Inter"/>
              </a:rPr>
              <a:t>Силовые цепи и пайка — только под присмотром взрослого.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824"/>
        </a:solidFill>
        <a:effectLst/>
      </p:bgPr>
    </p:bg>
    <p:spTree>
      <p:nvGrpSpPr>
        <p:cNvPr id="1" name=""/>
        <p:cNvGrpSpPr/>
        <p:nvPr/>
      </p:nvGrpSpPr>
      <p:grpSpPr>
        <a:xfrm>
          <a:off x="0" y="0"/>
          <a:ext cx="0" cy="0"/>
          <a:chOff x="0" y="0"/>
          <a:chExt cx="0" cy="0"/>
        </a:xfrm>
      </p:grpSpPr>
      <p:sp>
        <p:nvSpPr>
          <p:cNvPr id="2" name="Rectangle 1"/>
          <p:cNvSpPr/>
          <p:nvPr/>
        </p:nvSpPr>
        <p:spPr>
          <a:xfrm>
            <a:off x="0" y="0"/>
            <a:ext cx="91440" cy="6858000"/>
          </a:xfrm>
          <a:prstGeom prst="rect">
            <a:avLst/>
          </a:prstGeom>
          <a:solidFill>
            <a:srgbClr val="3AD7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0624" y="256032"/>
            <a:ext cx="4389120" cy="228600"/>
          </a:xfrm>
          <a:prstGeom prst="rect">
            <a:avLst/>
          </a:prstGeom>
          <a:noFill/>
        </p:spPr>
        <p:txBody>
          <a:bodyPr wrap="square" lIns="0" tIns="0" rIns="0" bIns="0" anchor="ctr">
            <a:noAutofit/>
          </a:bodyPr>
          <a:lstStyle/>
          <a:p>
            <a:pPr algn="l">
              <a:lnSpc>
                <a:spcPct val="100000"/>
              </a:lnSpc>
              <a:spcBef>
                <a:spcPts val="0"/>
              </a:spcBef>
              <a:spcAft>
                <a:spcPts val="0"/>
              </a:spcAft>
            </a:pPr>
            <a:r>
              <a:rPr sz="900" b="1">
                <a:solidFill>
                  <a:srgbClr val="3AD7F9"/>
                </a:solidFill>
                <a:latin typeface="Inter"/>
              </a:rPr>
              <a:t>PIV 2026 · КОМАНДА 5</a:t>
            </a:r>
          </a:p>
        </p:txBody>
      </p:sp>
      <p:sp>
        <p:nvSpPr>
          <p:cNvPr id="4" name="TextBox 3"/>
          <p:cNvSpPr txBox="1"/>
          <p:nvPr/>
        </p:nvSpPr>
        <p:spPr>
          <a:xfrm>
            <a:off x="420624" y="621792"/>
            <a:ext cx="11338560" cy="630936"/>
          </a:xfrm>
          <a:prstGeom prst="rect">
            <a:avLst/>
          </a:prstGeom>
          <a:noFill/>
        </p:spPr>
        <p:txBody>
          <a:bodyPr wrap="square" lIns="0" tIns="0" rIns="0" bIns="0" anchor="ctr">
            <a:noAutofit/>
          </a:bodyPr>
          <a:lstStyle/>
          <a:p>
            <a:pPr algn="l">
              <a:lnSpc>
                <a:spcPct val="100000"/>
              </a:lnSpc>
              <a:spcBef>
                <a:spcPts val="0"/>
              </a:spcBef>
              <a:spcAft>
                <a:spcPts val="0"/>
              </a:spcAft>
            </a:pPr>
            <a:r>
              <a:rPr sz="2900" b="1">
                <a:solidFill>
                  <a:srgbClr val="F4F8FB"/>
                </a:solidFill>
                <a:latin typeface="Inter"/>
              </a:rPr>
              <a:t>Программирование: от идеи до танца</a:t>
            </a:r>
          </a:p>
        </p:txBody>
      </p:sp>
      <p:sp>
        <p:nvSpPr>
          <p:cNvPr id="5" name="TextBox 4"/>
          <p:cNvSpPr txBox="1"/>
          <p:nvPr/>
        </p:nvSpPr>
        <p:spPr>
          <a:xfrm>
            <a:off x="432816" y="1225294"/>
            <a:ext cx="11018520" cy="347472"/>
          </a:xfrm>
          <a:prstGeom prst="rect">
            <a:avLst/>
          </a:prstGeom>
          <a:noFill/>
        </p:spPr>
        <p:txBody>
          <a:bodyPr wrap="square" lIns="0" tIns="0" rIns="0" bIns="0" anchor="ctr">
            <a:noAutofit/>
          </a:bodyPr>
          <a:lstStyle/>
          <a:p>
            <a:pPr algn="l">
              <a:lnSpc>
                <a:spcPct val="100000"/>
              </a:lnSpc>
              <a:spcBef>
                <a:spcPts val="0"/>
              </a:spcBef>
              <a:spcAft>
                <a:spcPts val="0"/>
              </a:spcAft>
            </a:pPr>
            <a:r>
              <a:rPr sz="1410" b="0">
                <a:solidFill>
                  <a:srgbClr val="B0C7D7"/>
                </a:solidFill>
                <a:latin typeface="Inter"/>
              </a:rPr>
              <a:t>Понятный результат обучения — собственный сценарий для R2-D2.</a:t>
            </a:r>
          </a:p>
        </p:txBody>
      </p:sp>
      <p:sp>
        <p:nvSpPr>
          <p:cNvPr id="6" name="Rectangle 5"/>
          <p:cNvSpPr/>
          <p:nvPr/>
        </p:nvSpPr>
        <p:spPr>
          <a:xfrm>
            <a:off x="420624" y="6519672"/>
            <a:ext cx="11247120" cy="10972"/>
          </a:xfrm>
          <a:prstGeom prst="rect">
            <a:avLst/>
          </a:prstGeom>
          <a:solidFill>
            <a:srgbClr val="2B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6565392"/>
            <a:ext cx="8229600" cy="164592"/>
          </a:xfrm>
          <a:prstGeom prst="rect">
            <a:avLst/>
          </a:prstGeom>
          <a:noFill/>
        </p:spPr>
        <p:txBody>
          <a:bodyPr wrap="square" lIns="0" tIns="0" rIns="0" bIns="0" anchor="ctr">
            <a:noAutofit/>
          </a:bodyPr>
          <a:lstStyle/>
          <a:p>
            <a:pPr algn="l">
              <a:lnSpc>
                <a:spcPct val="100000"/>
              </a:lnSpc>
              <a:spcBef>
                <a:spcPts val="0"/>
              </a:spcBef>
              <a:spcAft>
                <a:spcPts val="0"/>
              </a:spcAft>
            </a:pPr>
            <a:r>
              <a:rPr sz="900" b="0">
                <a:solidFill>
                  <a:srgbClr val="B0C7D7"/>
                </a:solidFill>
                <a:latin typeface="Inter"/>
              </a:rPr>
              <a:t>УЧЕБНЫЙ НАБОР · ПРОГРАММИРОВАНИЕ</a:t>
            </a:r>
          </a:p>
        </p:txBody>
      </p:sp>
      <p:sp>
        <p:nvSpPr>
          <p:cNvPr id="8" name="TextBox 7"/>
          <p:cNvSpPr txBox="1"/>
          <p:nvPr/>
        </p:nvSpPr>
        <p:spPr>
          <a:xfrm>
            <a:off x="10716768" y="6537960"/>
            <a:ext cx="960120" cy="210312"/>
          </a:xfrm>
          <a:prstGeom prst="rect">
            <a:avLst/>
          </a:prstGeom>
          <a:noFill/>
        </p:spPr>
        <p:txBody>
          <a:bodyPr wrap="none" lIns="0" tIns="0" rIns="0" bIns="0" anchor="ctr">
            <a:noAutofit/>
          </a:bodyPr>
          <a:lstStyle/>
          <a:p>
            <a:pPr algn="r"/>
            <a:r>
              <a:rPr sz="910" b="1">
                <a:solidFill>
                  <a:srgbClr val="3AD7F9"/>
                </a:solidFill>
                <a:latin typeface="Inter"/>
              </a:rPr>
              <a:t>15 / 17</a:t>
            </a:r>
          </a:p>
        </p:txBody>
      </p:sp>
      <p:pic>
        <p:nvPicPr>
          <p:cNvPr id="57" name="Рисунок 56">
            <a:extLst>
              <a:ext uri="{FF2B5EF4-FFF2-40B4-BE49-F238E27FC236}">
                <a16:creationId xmlns:a16="http://schemas.microsoft.com/office/drawing/2014/main" id="{D2641114-5E44-5303-3A89-6AF08AC2142C}"/>
              </a:ext>
            </a:extLst>
          </p:cNvPr>
          <p:cNvPicPr>
            <a:picLocks noChangeAspect="1"/>
          </p:cNvPicPr>
          <p:nvPr/>
        </p:nvPicPr>
        <p:blipFill>
          <a:blip r:embed="rId3"/>
          <a:stretch>
            <a:fillRect/>
          </a:stretch>
        </p:blipFill>
        <p:spPr>
          <a:xfrm>
            <a:off x="2374235" y="1630508"/>
            <a:ext cx="7152319" cy="4605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alpha val="0"/>
              </a:srgbClr>
            </a:solidFill>
            <a:prstDash val="solid"/>
          </a:ln>
        </p:spPr>
        <p:txBody>
          <a:bodyPr/>
          <a:lstStyle/>
          <a:p>
            <a:endParaRPr/>
          </a:p>
        </p:txBody>
      </p:sp>
      <p:sp>
        <p:nvSpPr>
          <p:cNvPr id="3" name="Text 1"/>
          <p:cNvSpPr/>
          <p:nvPr/>
        </p:nvSpPr>
        <p:spPr>
          <a:xfrm>
            <a:off x="420624" y="256032"/>
            <a:ext cx="438912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PIV 2026 · КОМАНДА 5</a:t>
            </a:r>
            <a:endParaRPr lang="en-US" sz="900" dirty="0"/>
          </a:p>
        </p:txBody>
      </p:sp>
      <p:sp>
        <p:nvSpPr>
          <p:cNvPr id="4" name="Text 2"/>
          <p:cNvSpPr/>
          <p:nvPr/>
        </p:nvSpPr>
        <p:spPr>
          <a:xfrm>
            <a:off x="420624" y="640080"/>
            <a:ext cx="10972800" cy="640080"/>
          </a:xfrm>
          <a:prstGeom prst="rect">
            <a:avLst/>
          </a:prstGeom>
          <a:noFill/>
          <a:ln/>
        </p:spPr>
        <p:txBody>
          <a:bodyPr wrap="square" lIns="0" tIns="0" rIns="0" bIns="0" rtlCol="0" anchor="ctr">
            <a:normAutofit/>
          </a:bodyPr>
          <a:lstStyle/>
          <a:p>
            <a:pPr marL="0" indent="0">
              <a:lnSpc>
                <a:spcPct val="105000"/>
              </a:lnSpc>
              <a:buNone/>
            </a:pPr>
            <a:r>
              <a:rPr lang="en-US" sz="3100" b="1" dirty="0">
                <a:solidFill>
                  <a:srgbClr val="F6FAFD"/>
                </a:solidFill>
                <a:latin typeface="Inter Display" pitchFamily="34" charset="0"/>
                <a:ea typeface="Inter Display" pitchFamily="34" charset="-122"/>
                <a:cs typeface="Inter Display" pitchFamily="34" charset="-120"/>
              </a:rPr>
              <a:t>Что пошло не по плану</a:t>
            </a:r>
            <a:endParaRPr lang="en-US" sz="3100" dirty="0"/>
          </a:p>
        </p:txBody>
      </p:sp>
      <p:sp>
        <p:nvSpPr>
          <p:cNvPr id="5" name="Text 3"/>
          <p:cNvSpPr/>
          <p:nvPr/>
        </p:nvSpPr>
        <p:spPr>
          <a:xfrm>
            <a:off x="438912" y="1298448"/>
            <a:ext cx="10972800" cy="384048"/>
          </a:xfrm>
          <a:prstGeom prst="rect">
            <a:avLst/>
          </a:prstGeom>
          <a:noFill/>
          <a:ln/>
        </p:spPr>
        <p:txBody>
          <a:bodyPr wrap="square" lIns="0" tIns="0" rIns="0" bIns="0" rtlCol="0" anchor="ctr">
            <a:normAutofit/>
          </a:bodyPr>
          <a:lstStyle/>
          <a:p>
            <a:pPr marL="0" indent="0">
              <a:lnSpc>
                <a:spcPct val="105000"/>
              </a:lnSpc>
              <a:buNone/>
            </a:pPr>
            <a:r>
              <a:rPr lang="en-US" sz="1300" dirty="0">
                <a:solidFill>
                  <a:srgbClr val="AFC6D8"/>
                </a:solidFill>
                <a:latin typeface="Inter" pitchFamily="34" charset="0"/>
                <a:ea typeface="Inter" pitchFamily="34" charset="-122"/>
                <a:cs typeface="Inter" pitchFamily="34" charset="-120"/>
              </a:rPr>
              <a:t>Хорошая конструкция — это способность быстро менять решение.</a:t>
            </a:r>
            <a:endParaRPr lang="en-US" sz="1300" dirty="0"/>
          </a:p>
        </p:txBody>
      </p:sp>
      <p:sp>
        <p:nvSpPr>
          <p:cNvPr id="6" name="Shape 4"/>
          <p:cNvSpPr/>
          <p:nvPr/>
        </p:nvSpPr>
        <p:spPr>
          <a:xfrm>
            <a:off x="420624" y="6519672"/>
            <a:ext cx="11247120" cy="0"/>
          </a:xfrm>
          <a:prstGeom prst="line">
            <a:avLst/>
          </a:prstGeom>
          <a:noFill/>
          <a:ln w="12700">
            <a:solidFill>
              <a:srgbClr val="2A516A"/>
            </a:solidFill>
            <a:prstDash val="solid"/>
          </a:ln>
        </p:spPr>
        <p:txBody>
          <a:bodyPr/>
          <a:lstStyle/>
          <a:p>
            <a:endParaRPr/>
          </a:p>
        </p:txBody>
      </p:sp>
      <p:sp>
        <p:nvSpPr>
          <p:cNvPr id="7" name="Text 5"/>
          <p:cNvSpPr/>
          <p:nvPr/>
        </p:nvSpPr>
        <p:spPr>
          <a:xfrm>
            <a:off x="438912" y="6565392"/>
            <a:ext cx="6400800" cy="164592"/>
          </a:xfrm>
          <a:prstGeom prst="rect">
            <a:avLst/>
          </a:prstGeom>
          <a:noFill/>
          <a:ln/>
        </p:spPr>
        <p:txBody>
          <a:bodyPr wrap="square" lIns="0" tIns="0" rIns="0" bIns="0" rtlCol="0" anchor="ctr">
            <a:normAutofit/>
          </a:bodyPr>
          <a:lstStyle/>
          <a:p>
            <a:pPr marL="0" indent="0">
              <a:lnSpc>
                <a:spcPct val="105000"/>
              </a:lnSpc>
              <a:buNone/>
            </a:pPr>
            <a:r>
              <a:rPr lang="en-US" sz="900" dirty="0">
                <a:solidFill>
                  <a:srgbClr val="AFC6D8"/>
                </a:solidFill>
                <a:latin typeface="Inter" pitchFamily="34" charset="0"/>
                <a:ea typeface="Inter" pitchFamily="34" charset="-122"/>
                <a:cs typeface="Inter" pitchFamily="34" charset="-120"/>
              </a:rPr>
              <a:t>ИТЕРАЦИИ</a:t>
            </a:r>
            <a:endParaRPr lang="en-US" sz="900" dirty="0"/>
          </a:p>
        </p:txBody>
      </p:sp>
      <p:sp>
        <p:nvSpPr>
          <p:cNvPr id="8" name="Text 6"/>
          <p:cNvSpPr/>
          <p:nvPr/>
        </p:nvSpPr>
        <p:spPr>
          <a:xfrm>
            <a:off x="10844784" y="6547104"/>
            <a:ext cx="859536" cy="201168"/>
          </a:xfrm>
          <a:prstGeom prst="rect">
            <a:avLst/>
          </a:prstGeom>
          <a:noFill/>
          <a:ln/>
        </p:spPr>
        <p:txBody>
          <a:bodyPr wrap="none" lIns="0" tIns="0" rIns="0" bIns="0" rtlCol="0" anchor="ctr">
            <a:normAutofit/>
          </a:bodyPr>
          <a:lstStyle/>
          <a:p>
            <a:pPr algn="r"/>
            <a:r>
              <a:rPr sz="910" b="1">
                <a:solidFill>
                  <a:srgbClr val="3AD7F9"/>
                </a:solidFill>
                <a:latin typeface="Inter"/>
              </a:rPr>
              <a:t>16 / 17</a:t>
            </a:r>
          </a:p>
        </p:txBody>
      </p:sp>
      <p:sp>
        <p:nvSpPr>
          <p:cNvPr id="9" name="Shape 7"/>
          <p:cNvSpPr/>
          <p:nvPr/>
        </p:nvSpPr>
        <p:spPr>
          <a:xfrm>
            <a:off x="521208" y="1847088"/>
            <a:ext cx="11137392" cy="932688"/>
          </a:xfrm>
          <a:prstGeom prst="roundRect">
            <a:avLst>
              <a:gd name="adj" fmla="val 13725"/>
            </a:avLst>
          </a:prstGeom>
          <a:solidFill>
            <a:srgbClr val="122D44"/>
          </a:solidFill>
          <a:ln w="12700">
            <a:solidFill>
              <a:srgbClr val="122D44"/>
            </a:solidFill>
            <a:prstDash val="solid"/>
          </a:ln>
        </p:spPr>
        <p:txBody>
          <a:bodyPr/>
          <a:lstStyle/>
          <a:p>
            <a:endParaRPr/>
          </a:p>
        </p:txBody>
      </p:sp>
      <p:sp>
        <p:nvSpPr>
          <p:cNvPr id="10" name="Text 8"/>
          <p:cNvSpPr/>
          <p:nvPr/>
        </p:nvSpPr>
        <p:spPr>
          <a:xfrm>
            <a:off x="667512" y="2029968"/>
            <a:ext cx="475488" cy="521208"/>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01</a:t>
            </a:r>
            <a:endParaRPr lang="en-US" sz="2300" dirty="0"/>
          </a:p>
        </p:txBody>
      </p:sp>
      <p:sp>
        <p:nvSpPr>
          <p:cNvPr id="11" name="Text 9"/>
          <p:cNvSpPr/>
          <p:nvPr/>
        </p:nvSpPr>
        <p:spPr>
          <a:xfrm>
            <a:off x="1243584" y="2066544"/>
            <a:ext cx="2194560" cy="448056"/>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Фанера</a:t>
            </a:r>
            <a:endParaRPr lang="en-US" sz="1800" dirty="0"/>
          </a:p>
        </p:txBody>
      </p:sp>
      <p:sp>
        <p:nvSpPr>
          <p:cNvPr id="12" name="Text 10"/>
          <p:cNvSpPr/>
          <p:nvPr/>
        </p:nvSpPr>
        <p:spPr>
          <a:xfrm>
            <a:off x="3593592" y="2057400"/>
            <a:ext cx="4398264" cy="50292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ожидали 6 мм → получили 4 мм</a:t>
            </a:r>
            <a:endParaRPr lang="en-US" sz="1400" dirty="0"/>
          </a:p>
        </p:txBody>
      </p:sp>
      <p:sp>
        <p:nvSpPr>
          <p:cNvPr id="13" name="Text 11"/>
          <p:cNvSpPr/>
          <p:nvPr/>
        </p:nvSpPr>
        <p:spPr>
          <a:xfrm>
            <a:off x="8275320" y="2048256"/>
            <a:ext cx="3081528" cy="521208"/>
          </a:xfrm>
          <a:prstGeom prst="rect">
            <a:avLst/>
          </a:prstGeom>
          <a:noFill/>
          <a:ln/>
        </p:spPr>
        <p:txBody>
          <a:bodyPr wrap="square" lIns="0" tIns="0" rIns="0" bIns="0" rtlCol="0" anchor="ctr">
            <a:normAutofit/>
          </a:bodyPr>
          <a:lstStyle/>
          <a:p>
            <a:pPr marL="0" indent="0">
              <a:lnSpc>
                <a:spcPct val="105000"/>
              </a:lnSpc>
              <a:buNone/>
            </a:pPr>
            <a:r>
              <a:rPr lang="en-US" sz="1400" b="1" dirty="0">
                <a:solidFill>
                  <a:srgbClr val="73E2C1"/>
                </a:solidFill>
                <a:latin typeface="Inter" pitchFamily="34" charset="0"/>
                <a:ea typeface="Inter" pitchFamily="34" charset="-122"/>
                <a:cs typeface="Inter" pitchFamily="34" charset="-120"/>
              </a:rPr>
              <a:t>пересчитали пазы</a:t>
            </a:r>
            <a:endParaRPr lang="en-US" sz="1400" dirty="0"/>
          </a:p>
        </p:txBody>
      </p:sp>
      <p:sp>
        <p:nvSpPr>
          <p:cNvPr id="14" name="Shape 12"/>
          <p:cNvSpPr/>
          <p:nvPr/>
        </p:nvSpPr>
        <p:spPr>
          <a:xfrm>
            <a:off x="521208" y="2935224"/>
            <a:ext cx="11137392" cy="932688"/>
          </a:xfrm>
          <a:prstGeom prst="roundRect">
            <a:avLst>
              <a:gd name="adj" fmla="val 13725"/>
            </a:avLst>
          </a:prstGeom>
          <a:solidFill>
            <a:srgbClr val="122D44"/>
          </a:solidFill>
          <a:ln w="12700">
            <a:solidFill>
              <a:srgbClr val="122D44"/>
            </a:solidFill>
            <a:prstDash val="solid"/>
          </a:ln>
        </p:spPr>
        <p:txBody>
          <a:bodyPr/>
          <a:lstStyle/>
          <a:p>
            <a:endParaRPr/>
          </a:p>
        </p:txBody>
      </p:sp>
      <p:sp>
        <p:nvSpPr>
          <p:cNvPr id="15" name="Text 13"/>
          <p:cNvSpPr/>
          <p:nvPr/>
        </p:nvSpPr>
        <p:spPr>
          <a:xfrm>
            <a:off x="667512" y="3118104"/>
            <a:ext cx="475488" cy="521208"/>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02</a:t>
            </a:r>
            <a:endParaRPr lang="en-US" sz="2300" dirty="0"/>
          </a:p>
        </p:txBody>
      </p:sp>
      <p:sp>
        <p:nvSpPr>
          <p:cNvPr id="16" name="Text 14"/>
          <p:cNvSpPr/>
          <p:nvPr/>
        </p:nvSpPr>
        <p:spPr>
          <a:xfrm>
            <a:off x="1243584" y="3154680"/>
            <a:ext cx="2194560" cy="448056"/>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Ноги</a:t>
            </a:r>
            <a:endParaRPr lang="en-US" sz="1800" dirty="0"/>
          </a:p>
        </p:txBody>
      </p:sp>
      <p:sp>
        <p:nvSpPr>
          <p:cNvPr id="17" name="Text 15"/>
          <p:cNvSpPr/>
          <p:nvPr/>
        </p:nvSpPr>
        <p:spPr>
          <a:xfrm>
            <a:off x="3593592" y="3145536"/>
            <a:ext cx="4398264" cy="50292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длинная деталь → избыточный габарит</a:t>
            </a:r>
            <a:endParaRPr lang="en-US" sz="1400" dirty="0"/>
          </a:p>
        </p:txBody>
      </p:sp>
      <p:sp>
        <p:nvSpPr>
          <p:cNvPr id="18" name="Text 16"/>
          <p:cNvSpPr/>
          <p:nvPr/>
        </p:nvSpPr>
        <p:spPr>
          <a:xfrm>
            <a:off x="8275320" y="3136392"/>
            <a:ext cx="3081528" cy="521208"/>
          </a:xfrm>
          <a:prstGeom prst="rect">
            <a:avLst/>
          </a:prstGeom>
          <a:noFill/>
          <a:ln/>
        </p:spPr>
        <p:txBody>
          <a:bodyPr wrap="square" lIns="0" tIns="0" rIns="0" bIns="0" rtlCol="0" anchor="ctr">
            <a:normAutofit/>
          </a:bodyPr>
          <a:lstStyle/>
          <a:p>
            <a:pPr marL="0" indent="0">
              <a:lnSpc>
                <a:spcPct val="105000"/>
              </a:lnSpc>
              <a:buNone/>
            </a:pPr>
            <a:r>
              <a:rPr lang="en-US" sz="1400" b="1" dirty="0">
                <a:solidFill>
                  <a:srgbClr val="73E2C1"/>
                </a:solidFill>
                <a:latin typeface="Inter" pitchFamily="34" charset="0"/>
                <a:ea typeface="Inter" pitchFamily="34" charset="-122"/>
                <a:cs typeface="Inter" pitchFamily="34" charset="-120"/>
              </a:rPr>
              <a:t>укоротили до 55 мм</a:t>
            </a:r>
            <a:endParaRPr lang="en-US" sz="1400" dirty="0"/>
          </a:p>
        </p:txBody>
      </p:sp>
      <p:sp>
        <p:nvSpPr>
          <p:cNvPr id="19" name="Shape 17"/>
          <p:cNvSpPr/>
          <p:nvPr/>
        </p:nvSpPr>
        <p:spPr>
          <a:xfrm>
            <a:off x="521208" y="4023360"/>
            <a:ext cx="11137392" cy="932688"/>
          </a:xfrm>
          <a:prstGeom prst="roundRect">
            <a:avLst>
              <a:gd name="adj" fmla="val 13725"/>
            </a:avLst>
          </a:prstGeom>
          <a:solidFill>
            <a:srgbClr val="122D44"/>
          </a:solidFill>
          <a:ln w="12700">
            <a:solidFill>
              <a:srgbClr val="122D44"/>
            </a:solidFill>
            <a:prstDash val="solid"/>
          </a:ln>
        </p:spPr>
        <p:txBody>
          <a:bodyPr/>
          <a:lstStyle/>
          <a:p>
            <a:endParaRPr/>
          </a:p>
        </p:txBody>
      </p:sp>
      <p:sp>
        <p:nvSpPr>
          <p:cNvPr id="20" name="Text 18"/>
          <p:cNvSpPr/>
          <p:nvPr/>
        </p:nvSpPr>
        <p:spPr>
          <a:xfrm>
            <a:off x="667512" y="4206240"/>
            <a:ext cx="475488" cy="521208"/>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03</a:t>
            </a:r>
            <a:endParaRPr lang="en-US" sz="2300" dirty="0"/>
          </a:p>
        </p:txBody>
      </p:sp>
      <p:sp>
        <p:nvSpPr>
          <p:cNvPr id="21" name="Text 19"/>
          <p:cNvSpPr/>
          <p:nvPr/>
        </p:nvSpPr>
        <p:spPr>
          <a:xfrm>
            <a:off x="1243584" y="4242816"/>
            <a:ext cx="2194560" cy="448056"/>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Оболочка</a:t>
            </a:r>
            <a:endParaRPr lang="en-US" sz="1800" dirty="0"/>
          </a:p>
        </p:txBody>
      </p:sp>
      <p:sp>
        <p:nvSpPr>
          <p:cNvPr id="22" name="Text 20"/>
          <p:cNvSpPr/>
          <p:nvPr/>
        </p:nvSpPr>
        <p:spPr>
          <a:xfrm>
            <a:off x="3593592" y="4233672"/>
            <a:ext cx="4398264" cy="50292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опора на клей → риск срыва панели</a:t>
            </a:r>
            <a:endParaRPr lang="en-US" sz="1400" dirty="0"/>
          </a:p>
        </p:txBody>
      </p:sp>
      <p:sp>
        <p:nvSpPr>
          <p:cNvPr id="23" name="Text 21"/>
          <p:cNvSpPr/>
          <p:nvPr/>
        </p:nvSpPr>
        <p:spPr>
          <a:xfrm>
            <a:off x="8275320" y="4224528"/>
            <a:ext cx="3081528" cy="521208"/>
          </a:xfrm>
          <a:prstGeom prst="rect">
            <a:avLst/>
          </a:prstGeom>
          <a:noFill/>
          <a:ln/>
        </p:spPr>
        <p:txBody>
          <a:bodyPr wrap="square" lIns="0" tIns="0" rIns="0" bIns="0" rtlCol="0" anchor="ctr">
            <a:normAutofit/>
          </a:bodyPr>
          <a:lstStyle/>
          <a:p>
            <a:pPr marL="0" indent="0">
              <a:lnSpc>
                <a:spcPct val="105000"/>
              </a:lnSpc>
              <a:buNone/>
            </a:pPr>
            <a:r>
              <a:rPr lang="en-US" sz="1400" b="1" dirty="0">
                <a:solidFill>
                  <a:srgbClr val="73E2C1"/>
                </a:solidFill>
                <a:latin typeface="Inter" pitchFamily="34" charset="0"/>
                <a:ea typeface="Inter" pitchFamily="34" charset="-122"/>
                <a:cs typeface="Inter" pitchFamily="34" charset="-120"/>
              </a:rPr>
              <a:t>добавили шипы</a:t>
            </a:r>
            <a:endParaRPr lang="en-US" sz="1400" dirty="0"/>
          </a:p>
        </p:txBody>
      </p:sp>
      <p:sp>
        <p:nvSpPr>
          <p:cNvPr id="24" name="Shape 22"/>
          <p:cNvSpPr/>
          <p:nvPr/>
        </p:nvSpPr>
        <p:spPr>
          <a:xfrm>
            <a:off x="521208" y="5111496"/>
            <a:ext cx="11137392" cy="932688"/>
          </a:xfrm>
          <a:prstGeom prst="roundRect">
            <a:avLst>
              <a:gd name="adj" fmla="val 13725"/>
            </a:avLst>
          </a:prstGeom>
          <a:solidFill>
            <a:srgbClr val="122D44"/>
          </a:solidFill>
          <a:ln w="12700">
            <a:solidFill>
              <a:srgbClr val="122D44"/>
            </a:solidFill>
            <a:prstDash val="solid"/>
          </a:ln>
        </p:spPr>
        <p:txBody>
          <a:bodyPr/>
          <a:lstStyle/>
          <a:p>
            <a:endParaRPr/>
          </a:p>
        </p:txBody>
      </p:sp>
      <p:sp>
        <p:nvSpPr>
          <p:cNvPr id="25" name="Text 23"/>
          <p:cNvSpPr/>
          <p:nvPr/>
        </p:nvSpPr>
        <p:spPr>
          <a:xfrm>
            <a:off x="667512" y="5294376"/>
            <a:ext cx="475488" cy="521208"/>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04</a:t>
            </a:r>
            <a:endParaRPr lang="en-US" sz="2300" dirty="0"/>
          </a:p>
        </p:txBody>
      </p:sp>
      <p:sp>
        <p:nvSpPr>
          <p:cNvPr id="26" name="Text 24"/>
          <p:cNvSpPr/>
          <p:nvPr/>
        </p:nvSpPr>
        <p:spPr>
          <a:xfrm>
            <a:off x="1243584" y="5330952"/>
            <a:ext cx="2194560" cy="448056"/>
          </a:xfrm>
          <a:prstGeom prst="rect">
            <a:avLst/>
          </a:prstGeom>
          <a:noFill/>
          <a:ln/>
        </p:spPr>
        <p:txBody>
          <a:bodyPr wrap="square" lIns="0" tIns="0" rIns="0" bIns="0" rtlCol="0" anchor="ctr">
            <a:normAutofit/>
          </a:bodyPr>
          <a:lstStyle/>
          <a:p>
            <a:pPr marL="0" indent="0">
              <a:lnSpc>
                <a:spcPct val="105000"/>
              </a:lnSpc>
              <a:buNone/>
            </a:pPr>
            <a:r>
              <a:rPr lang="en-US" sz="1800" b="1" dirty="0">
                <a:solidFill>
                  <a:srgbClr val="F6FAFD"/>
                </a:solidFill>
                <a:latin typeface="Inter" pitchFamily="34" charset="0"/>
                <a:ea typeface="Inter" pitchFamily="34" charset="-122"/>
                <a:cs typeface="Inter" pitchFamily="34" charset="-120"/>
              </a:rPr>
              <a:t>Коронная шестерня</a:t>
            </a:r>
            <a:endParaRPr lang="en-US" sz="1800" dirty="0"/>
          </a:p>
        </p:txBody>
      </p:sp>
      <p:sp>
        <p:nvSpPr>
          <p:cNvPr id="27" name="Text 25"/>
          <p:cNvSpPr/>
          <p:nvPr/>
        </p:nvSpPr>
        <p:spPr>
          <a:xfrm>
            <a:off x="3593592" y="5321808"/>
            <a:ext cx="4398264" cy="502920"/>
          </a:xfrm>
          <a:prstGeom prst="rect">
            <a:avLst/>
          </a:prstGeom>
          <a:noFill/>
          <a:ln/>
        </p:spPr>
        <p:txBody>
          <a:bodyPr wrap="square" lIns="0" tIns="0" rIns="0" bIns="0" rtlCol="0" anchor="ctr">
            <a:normAutofit/>
          </a:bodyPr>
          <a:lstStyle/>
          <a:p>
            <a:pPr marL="0" indent="0">
              <a:lnSpc>
                <a:spcPct val="105000"/>
              </a:lnSpc>
              <a:buNone/>
            </a:pPr>
            <a:r>
              <a:rPr lang="en-US" sz="1400" dirty="0">
                <a:solidFill>
                  <a:srgbClr val="AFC6D8"/>
                </a:solidFill>
                <a:latin typeface="Inter" pitchFamily="34" charset="0"/>
                <a:ea typeface="Inter" pitchFamily="34" charset="-122"/>
                <a:cs typeface="Inter" pitchFamily="34" charset="-120"/>
              </a:rPr>
              <a:t>ограничение стола → нужно уложиться в печать</a:t>
            </a:r>
            <a:endParaRPr lang="en-US" sz="1400" dirty="0"/>
          </a:p>
        </p:txBody>
      </p:sp>
      <p:sp>
        <p:nvSpPr>
          <p:cNvPr id="28" name="Text 26"/>
          <p:cNvSpPr/>
          <p:nvPr/>
        </p:nvSpPr>
        <p:spPr>
          <a:xfrm>
            <a:off x="8275320" y="5312664"/>
            <a:ext cx="3081528" cy="521208"/>
          </a:xfrm>
          <a:prstGeom prst="rect">
            <a:avLst/>
          </a:prstGeom>
          <a:noFill/>
          <a:ln/>
        </p:spPr>
        <p:txBody>
          <a:bodyPr wrap="square" lIns="0" tIns="0" rIns="0" bIns="0" rtlCol="0" anchor="ctr">
            <a:normAutofit/>
          </a:bodyPr>
          <a:lstStyle/>
          <a:p>
            <a:pPr marL="0" indent="0">
              <a:lnSpc>
                <a:spcPct val="105000"/>
              </a:lnSpc>
              <a:buNone/>
            </a:pPr>
            <a:r>
              <a:rPr lang="en-US" sz="1400" b="1" dirty="0">
                <a:solidFill>
                  <a:srgbClr val="73E2C1"/>
                </a:solidFill>
                <a:latin typeface="Inter" pitchFamily="34" charset="0"/>
                <a:ea typeface="Inter" pitchFamily="34" charset="-122"/>
                <a:cs typeface="Inter" pitchFamily="34" charset="-120"/>
              </a:rPr>
              <a:t>адаптировали Ø190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71724"/>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3AD7F9"/>
          </a:solidFill>
          <a:ln w="12700">
            <a:solidFill>
              <a:srgbClr val="3AD7F9"/>
            </a:solidFill>
            <a:prstDash val="solid"/>
          </a:ln>
        </p:spPr>
        <p:txBody>
          <a:bodyPr/>
          <a:lstStyle/>
          <a:p>
            <a:endParaRPr/>
          </a:p>
        </p:txBody>
      </p:sp>
      <p:sp>
        <p:nvSpPr>
          <p:cNvPr id="3" name="Text 1"/>
          <p:cNvSpPr/>
          <p:nvPr/>
        </p:nvSpPr>
        <p:spPr>
          <a:xfrm>
            <a:off x="502920" y="384048"/>
            <a:ext cx="7315200" cy="228600"/>
          </a:xfrm>
          <a:prstGeom prst="rect">
            <a:avLst/>
          </a:prstGeom>
          <a:noFill/>
          <a:ln/>
        </p:spPr>
        <p:txBody>
          <a:bodyPr wrap="square" lIns="0" tIns="0" rIns="0" bIns="0" rtlCol="0" anchor="ctr">
            <a:normAutofit/>
          </a:bodyPr>
          <a:lstStyle/>
          <a:p>
            <a:pPr marL="0" indent="0">
              <a:lnSpc>
                <a:spcPct val="105000"/>
              </a:lnSpc>
              <a:buNone/>
            </a:pPr>
            <a:r>
              <a:rPr lang="en-US" sz="900" b="1" kern="0" spc="220" dirty="0">
                <a:solidFill>
                  <a:srgbClr val="3AD7F9"/>
                </a:solidFill>
                <a:latin typeface="Inter" pitchFamily="34" charset="0"/>
                <a:ea typeface="Inter" pitchFamily="34" charset="-122"/>
                <a:cs typeface="Inter" pitchFamily="34" charset="-120"/>
              </a:rPr>
              <a:t>ИТОГИ · R2-D2 / КОМАНДА 5</a:t>
            </a:r>
            <a:endParaRPr lang="en-US" sz="900" dirty="0"/>
          </a:p>
        </p:txBody>
      </p:sp>
      <p:sp>
        <p:nvSpPr>
          <p:cNvPr id="4" name="Text 2"/>
          <p:cNvSpPr/>
          <p:nvPr/>
        </p:nvSpPr>
        <p:spPr>
          <a:xfrm>
            <a:off x="502920" y="896112"/>
            <a:ext cx="6437376" cy="1627632"/>
          </a:xfrm>
          <a:prstGeom prst="rect">
            <a:avLst/>
          </a:prstGeom>
          <a:noFill/>
          <a:ln/>
        </p:spPr>
        <p:txBody>
          <a:bodyPr wrap="square" lIns="0" tIns="0" rIns="0" bIns="0" rtlCol="0" anchor="ctr">
            <a:normAutofit/>
          </a:bodyPr>
          <a:lstStyle/>
          <a:p>
            <a:pPr marL="0" indent="0">
              <a:lnSpc>
                <a:spcPct val="105000"/>
              </a:lnSpc>
              <a:buNone/>
            </a:pPr>
            <a:r>
              <a:rPr lang="en-US" sz="3800" b="1" dirty="0">
                <a:solidFill>
                  <a:srgbClr val="F6FAFD"/>
                </a:solidFill>
                <a:latin typeface="Inter Display" pitchFamily="34" charset="0"/>
                <a:ea typeface="Inter Display" pitchFamily="34" charset="-122"/>
                <a:cs typeface="Inter Display" pitchFamily="34" charset="-120"/>
              </a:rPr>
              <a:t>Робот — это сумма</a:t>
            </a:r>
            <a:endParaRPr lang="en-US" sz="3800" dirty="0"/>
          </a:p>
          <a:p>
            <a:pPr marL="0" indent="0">
              <a:lnSpc>
                <a:spcPct val="105000"/>
              </a:lnSpc>
              <a:buNone/>
            </a:pPr>
            <a:r>
              <a:rPr lang="en-US" sz="3800" b="1" dirty="0">
                <a:solidFill>
                  <a:srgbClr val="F6FAFD"/>
                </a:solidFill>
                <a:latin typeface="Inter Display" pitchFamily="34" charset="0"/>
                <a:ea typeface="Inter Display" pitchFamily="34" charset="-122"/>
                <a:cs typeface="Inter Display" pitchFamily="34" charset="-120"/>
              </a:rPr>
              <a:t>инженерных решений</a:t>
            </a:r>
            <a:endParaRPr lang="en-US" sz="3800" dirty="0"/>
          </a:p>
        </p:txBody>
      </p:sp>
      <p:sp>
        <p:nvSpPr>
          <p:cNvPr id="5" name="Text 3"/>
          <p:cNvSpPr/>
          <p:nvPr/>
        </p:nvSpPr>
        <p:spPr>
          <a:xfrm>
            <a:off x="521208" y="2679192"/>
            <a:ext cx="6309360" cy="804672"/>
          </a:xfrm>
          <a:prstGeom prst="rect">
            <a:avLst/>
          </a:prstGeom>
          <a:noFill/>
          <a:ln/>
        </p:spPr>
        <p:txBody>
          <a:bodyPr wrap="square" lIns="0" tIns="0" rIns="0" bIns="0" rtlCol="0" anchor="ctr">
            <a:normAutofit/>
          </a:bodyPr>
          <a:lstStyle/>
          <a:p>
            <a:pPr marL="0" indent="0">
              <a:lnSpc>
                <a:spcPct val="105000"/>
              </a:lnSpc>
              <a:buNone/>
            </a:pPr>
            <a:r>
              <a:rPr lang="en-US" sz="1700" dirty="0">
                <a:solidFill>
                  <a:srgbClr val="AFC6D8"/>
                </a:solidFill>
                <a:latin typeface="Inter" pitchFamily="34" charset="0"/>
                <a:ea typeface="Inter" pitchFamily="34" charset="-122"/>
                <a:cs typeface="Inter" pitchFamily="34" charset="-120"/>
              </a:rPr>
              <a:t>Проектная конструкция + готовые файлы для производства + документация</a:t>
            </a:r>
            <a:endParaRPr lang="en-US" sz="1700" dirty="0"/>
          </a:p>
        </p:txBody>
      </p:sp>
      <p:sp>
        <p:nvSpPr>
          <p:cNvPr id="6" name="Shape 4"/>
          <p:cNvSpPr/>
          <p:nvPr/>
        </p:nvSpPr>
        <p:spPr>
          <a:xfrm>
            <a:off x="548640" y="3767328"/>
            <a:ext cx="2779776" cy="886968"/>
          </a:xfrm>
          <a:prstGeom prst="roundRect">
            <a:avLst>
              <a:gd name="adj" fmla="val 14433"/>
            </a:avLst>
          </a:prstGeom>
          <a:solidFill>
            <a:srgbClr val="122D44"/>
          </a:solidFill>
          <a:ln w="12700">
            <a:solidFill>
              <a:srgbClr val="122D44"/>
            </a:solidFill>
            <a:prstDash val="solid"/>
          </a:ln>
        </p:spPr>
        <p:txBody>
          <a:bodyPr/>
          <a:lstStyle/>
          <a:p>
            <a:endParaRPr/>
          </a:p>
        </p:txBody>
      </p:sp>
      <p:sp>
        <p:nvSpPr>
          <p:cNvPr id="7" name="Text 5"/>
          <p:cNvSpPr/>
          <p:nvPr/>
        </p:nvSpPr>
        <p:spPr>
          <a:xfrm>
            <a:off x="685800" y="3877056"/>
            <a:ext cx="1097280" cy="58521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6</a:t>
            </a:r>
            <a:endParaRPr lang="en-US" sz="2300" dirty="0"/>
          </a:p>
        </p:txBody>
      </p:sp>
      <p:sp>
        <p:nvSpPr>
          <p:cNvPr id="8" name="Text 6"/>
          <p:cNvSpPr/>
          <p:nvPr/>
        </p:nvSpPr>
        <p:spPr>
          <a:xfrm>
            <a:off x="1682496" y="3986784"/>
            <a:ext cx="1508760" cy="33832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основных узлов</a:t>
            </a:r>
            <a:endParaRPr lang="en-US" sz="1100" dirty="0"/>
          </a:p>
        </p:txBody>
      </p:sp>
      <p:sp>
        <p:nvSpPr>
          <p:cNvPr id="9" name="Shape 7"/>
          <p:cNvSpPr/>
          <p:nvPr/>
        </p:nvSpPr>
        <p:spPr>
          <a:xfrm>
            <a:off x="3611880" y="3767328"/>
            <a:ext cx="2779776" cy="886968"/>
          </a:xfrm>
          <a:prstGeom prst="roundRect">
            <a:avLst>
              <a:gd name="adj" fmla="val 14433"/>
            </a:avLst>
          </a:prstGeom>
          <a:solidFill>
            <a:srgbClr val="122D44"/>
          </a:solidFill>
          <a:ln w="12700">
            <a:solidFill>
              <a:srgbClr val="122D44"/>
            </a:solidFill>
            <a:prstDash val="solid"/>
          </a:ln>
        </p:spPr>
        <p:txBody>
          <a:bodyPr/>
          <a:lstStyle/>
          <a:p>
            <a:endParaRPr/>
          </a:p>
        </p:txBody>
      </p:sp>
      <p:sp>
        <p:nvSpPr>
          <p:cNvPr id="10" name="Text 8"/>
          <p:cNvSpPr/>
          <p:nvPr/>
        </p:nvSpPr>
        <p:spPr>
          <a:xfrm>
            <a:off x="3749040" y="3877056"/>
            <a:ext cx="1097280" cy="58521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STEP</a:t>
            </a:r>
            <a:endParaRPr lang="en-US" sz="2300" dirty="0"/>
          </a:p>
        </p:txBody>
      </p:sp>
      <p:sp>
        <p:nvSpPr>
          <p:cNvPr id="11" name="Text 9"/>
          <p:cNvSpPr/>
          <p:nvPr/>
        </p:nvSpPr>
        <p:spPr>
          <a:xfrm>
            <a:off x="4745736" y="3986784"/>
            <a:ext cx="1508760" cy="33832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CAD-сборки</a:t>
            </a:r>
            <a:endParaRPr lang="en-US" sz="1100" dirty="0"/>
          </a:p>
        </p:txBody>
      </p:sp>
      <p:sp>
        <p:nvSpPr>
          <p:cNvPr id="12" name="Shape 10"/>
          <p:cNvSpPr/>
          <p:nvPr/>
        </p:nvSpPr>
        <p:spPr>
          <a:xfrm>
            <a:off x="548640" y="4818888"/>
            <a:ext cx="2779776" cy="886968"/>
          </a:xfrm>
          <a:prstGeom prst="roundRect">
            <a:avLst>
              <a:gd name="adj" fmla="val 14433"/>
            </a:avLst>
          </a:prstGeom>
          <a:solidFill>
            <a:srgbClr val="122D44"/>
          </a:solidFill>
          <a:ln w="12700">
            <a:solidFill>
              <a:srgbClr val="122D44"/>
            </a:solidFill>
            <a:prstDash val="solid"/>
          </a:ln>
        </p:spPr>
        <p:txBody>
          <a:bodyPr/>
          <a:lstStyle/>
          <a:p>
            <a:endParaRPr/>
          </a:p>
        </p:txBody>
      </p:sp>
      <p:sp>
        <p:nvSpPr>
          <p:cNvPr id="13" name="Text 11"/>
          <p:cNvSpPr/>
          <p:nvPr/>
        </p:nvSpPr>
        <p:spPr>
          <a:xfrm>
            <a:off x="685800" y="4928616"/>
            <a:ext cx="1097280" cy="58521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STL</a:t>
            </a:r>
            <a:endParaRPr lang="en-US" sz="2300" dirty="0"/>
          </a:p>
        </p:txBody>
      </p:sp>
      <p:sp>
        <p:nvSpPr>
          <p:cNvPr id="14" name="Text 12"/>
          <p:cNvSpPr/>
          <p:nvPr/>
        </p:nvSpPr>
        <p:spPr>
          <a:xfrm>
            <a:off x="1682496" y="5038344"/>
            <a:ext cx="1508760" cy="33832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3D-печать</a:t>
            </a:r>
            <a:endParaRPr lang="en-US" sz="1100" dirty="0"/>
          </a:p>
        </p:txBody>
      </p:sp>
      <p:sp>
        <p:nvSpPr>
          <p:cNvPr id="15" name="Shape 13"/>
          <p:cNvSpPr/>
          <p:nvPr/>
        </p:nvSpPr>
        <p:spPr>
          <a:xfrm>
            <a:off x="3611880" y="4818888"/>
            <a:ext cx="2779776" cy="886968"/>
          </a:xfrm>
          <a:prstGeom prst="roundRect">
            <a:avLst>
              <a:gd name="adj" fmla="val 14433"/>
            </a:avLst>
          </a:prstGeom>
          <a:solidFill>
            <a:srgbClr val="122D44"/>
          </a:solidFill>
          <a:ln w="12700">
            <a:solidFill>
              <a:srgbClr val="122D44"/>
            </a:solidFill>
            <a:prstDash val="solid"/>
          </a:ln>
        </p:spPr>
        <p:txBody>
          <a:bodyPr/>
          <a:lstStyle/>
          <a:p>
            <a:endParaRPr/>
          </a:p>
        </p:txBody>
      </p:sp>
      <p:sp>
        <p:nvSpPr>
          <p:cNvPr id="16" name="Text 14"/>
          <p:cNvSpPr/>
          <p:nvPr/>
        </p:nvSpPr>
        <p:spPr>
          <a:xfrm>
            <a:off x="3749040" y="4928616"/>
            <a:ext cx="1097280" cy="585216"/>
          </a:xfrm>
          <a:prstGeom prst="rect">
            <a:avLst/>
          </a:prstGeom>
          <a:noFill/>
          <a:ln/>
        </p:spPr>
        <p:txBody>
          <a:bodyPr wrap="square" lIns="0" tIns="0" rIns="0" bIns="0" rtlCol="0" anchor="ctr">
            <a:normAutofit/>
          </a:bodyPr>
          <a:lstStyle/>
          <a:p>
            <a:pPr marL="0" indent="0">
              <a:lnSpc>
                <a:spcPct val="105000"/>
              </a:lnSpc>
              <a:buNone/>
            </a:pPr>
            <a:r>
              <a:rPr lang="en-US" sz="2300" b="1" dirty="0">
                <a:solidFill>
                  <a:srgbClr val="3AD7F9"/>
                </a:solidFill>
                <a:latin typeface="Inter" pitchFamily="34" charset="0"/>
                <a:ea typeface="Inter" pitchFamily="34" charset="-122"/>
                <a:cs typeface="Inter" pitchFamily="34" charset="-120"/>
              </a:rPr>
              <a:t>DXF</a:t>
            </a:r>
            <a:endParaRPr lang="en-US" sz="2300" dirty="0"/>
          </a:p>
        </p:txBody>
      </p:sp>
      <p:sp>
        <p:nvSpPr>
          <p:cNvPr id="17" name="Text 15"/>
          <p:cNvSpPr/>
          <p:nvPr/>
        </p:nvSpPr>
        <p:spPr>
          <a:xfrm>
            <a:off x="4745736" y="5038344"/>
            <a:ext cx="1508760" cy="338328"/>
          </a:xfrm>
          <a:prstGeom prst="rect">
            <a:avLst/>
          </a:prstGeom>
          <a:noFill/>
          <a:ln/>
        </p:spPr>
        <p:txBody>
          <a:bodyPr wrap="square" lIns="0" tIns="0" rIns="0" bIns="0" rtlCol="0" anchor="ctr">
            <a:normAutofit/>
          </a:bodyPr>
          <a:lstStyle/>
          <a:p>
            <a:pPr marL="0" indent="0">
              <a:lnSpc>
                <a:spcPct val="105000"/>
              </a:lnSpc>
              <a:buNone/>
            </a:pPr>
            <a:r>
              <a:rPr lang="en-US" sz="1100" dirty="0">
                <a:solidFill>
                  <a:srgbClr val="AFC6D8"/>
                </a:solidFill>
                <a:latin typeface="Inter" pitchFamily="34" charset="0"/>
                <a:ea typeface="Inter" pitchFamily="34" charset="-122"/>
                <a:cs typeface="Inter" pitchFamily="34" charset="-120"/>
              </a:rPr>
              <a:t>раскрой</a:t>
            </a:r>
            <a:endParaRPr lang="en-US" sz="1100" dirty="0"/>
          </a:p>
        </p:txBody>
      </p:sp>
      <p:sp>
        <p:nvSpPr>
          <p:cNvPr id="18" name="Shape 16"/>
          <p:cNvSpPr/>
          <p:nvPr/>
        </p:nvSpPr>
        <p:spPr>
          <a:xfrm>
            <a:off x="7616952" y="612648"/>
            <a:ext cx="3849624" cy="4425696"/>
          </a:xfrm>
          <a:prstGeom prst="roundRect">
            <a:avLst>
              <a:gd name="adj" fmla="val 2850"/>
            </a:avLst>
          </a:prstGeom>
          <a:solidFill>
            <a:srgbClr val="F6FAFD"/>
          </a:solidFill>
          <a:ln w="12700">
            <a:solidFill>
              <a:srgbClr val="F6FAFD"/>
            </a:solidFill>
            <a:prstDash val="solid"/>
          </a:ln>
        </p:spPr>
        <p:txBody>
          <a:bodyPr/>
          <a:lstStyle/>
          <a:p>
            <a:endParaRPr/>
          </a:p>
        </p:txBody>
      </p:sp>
      <p:pic>
        <p:nvPicPr>
          <p:cNvPr id="19" name="Image 0" descr="/mnt/data/work_r2/R2D2-PIV/img/head_r3_shell_assembled.png"/>
          <p:cNvPicPr>
            <a:picLocks noChangeAspect="1"/>
          </p:cNvPicPr>
          <p:nvPr/>
        </p:nvPicPr>
        <p:blipFill>
          <a:blip r:embed="rId3"/>
          <a:stretch>
            <a:fillRect/>
          </a:stretch>
        </p:blipFill>
        <p:spPr>
          <a:xfrm>
            <a:off x="7637880" y="612648"/>
            <a:ext cx="3807769" cy="4425696"/>
          </a:xfrm>
          <a:prstGeom prst="rect">
            <a:avLst/>
          </a:prstGeom>
        </p:spPr>
      </p:pic>
      <p:sp>
        <p:nvSpPr>
          <p:cNvPr id="20" name="Shape 17"/>
          <p:cNvSpPr/>
          <p:nvPr/>
        </p:nvSpPr>
        <p:spPr>
          <a:xfrm>
            <a:off x="7726680" y="4800600"/>
            <a:ext cx="3721608" cy="1609344"/>
          </a:xfrm>
          <a:prstGeom prst="roundRect">
            <a:avLst>
              <a:gd name="adj" fmla="val 5682"/>
            </a:avLst>
          </a:prstGeom>
          <a:solidFill>
            <a:srgbClr val="193B54"/>
          </a:solidFill>
          <a:ln w="12700">
            <a:solidFill>
              <a:srgbClr val="193B54"/>
            </a:solidFill>
            <a:prstDash val="solid"/>
          </a:ln>
        </p:spPr>
        <p:txBody>
          <a:bodyPr/>
          <a:lstStyle/>
          <a:p>
            <a:endParaRPr/>
          </a:p>
        </p:txBody>
      </p:sp>
      <p:pic>
        <p:nvPicPr>
          <p:cNvPr id="21" name="Image 1" descr="/mnt/data/work_r2/slide_assets/parts.jpg"/>
          <p:cNvPicPr>
            <a:picLocks noChangeAspect="1"/>
          </p:cNvPicPr>
          <p:nvPr/>
        </p:nvPicPr>
        <p:blipFill>
          <a:blip r:embed="rId4"/>
          <a:stretch>
            <a:fillRect/>
          </a:stretch>
        </p:blipFill>
        <p:spPr>
          <a:xfrm>
            <a:off x="8525485" y="4800600"/>
            <a:ext cx="2123999" cy="1609344"/>
          </a:xfrm>
          <a:prstGeom prst="rect">
            <a:avLst/>
          </a:prstGeom>
        </p:spPr>
      </p:pic>
      <p:sp>
        <p:nvSpPr>
          <p:cNvPr id="22" name="Text 18"/>
          <p:cNvSpPr/>
          <p:nvPr/>
        </p:nvSpPr>
        <p:spPr>
          <a:xfrm>
            <a:off x="502920" y="6153912"/>
            <a:ext cx="6784848" cy="310896"/>
          </a:xfrm>
          <a:prstGeom prst="rect">
            <a:avLst/>
          </a:prstGeom>
          <a:noFill/>
          <a:ln/>
        </p:spPr>
        <p:txBody>
          <a:bodyPr wrap="square" lIns="0" tIns="0" rIns="0" bIns="0" rtlCol="0" anchor="ctr">
            <a:normAutofit/>
          </a:bodyPr>
          <a:lstStyle/>
          <a:p>
            <a:pPr marL="0" indent="0">
              <a:lnSpc>
                <a:spcPct val="105000"/>
              </a:lnSpc>
              <a:buNone/>
            </a:pPr>
            <a:r>
              <a:rPr lang="en-US" sz="1200" dirty="0">
                <a:solidFill>
                  <a:srgbClr val="F3AB5A"/>
                </a:solidFill>
                <a:latin typeface="Inter" pitchFamily="34" charset="0"/>
                <a:ea typeface="Inter" pitchFamily="34" charset="-122"/>
                <a:cs typeface="Inter" pitchFamily="34" charset="-120"/>
              </a:rPr>
              <a:t>Сборку, управление и танец — проверяем на живом прототипе</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1914</Words>
  <Application>Microsoft Office PowerPoint</Application>
  <PresentationFormat>Широкоэкранный</PresentationFormat>
  <Paragraphs>293</Paragraphs>
  <Slides>16</Slides>
  <Notes>16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Arial</vt:lpstr>
      <vt:lpstr>Inter</vt:lpstr>
      <vt:lpstr>Inter Display</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ПИВ | МГТУ им. Н. Э. Баумана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R2-D2 — инженерный проект за 48 часов</dc:title>
  <dc:subject>Проект танцующего робота R2-D2</dc:subject>
  <dc:creator>Команда 5 · ПИВ</dc:creator>
  <cp:lastModifiedBy>Пользователь</cp:lastModifiedBy>
  <cp:revision>3</cp:revision>
  <dcterms:created xsi:type="dcterms:W3CDTF">2026-10-24T14:23:04Z</dcterms:created>
  <dcterms:modified xsi:type="dcterms:W3CDTF">2026-10-25T10:15:13Z</dcterms:modified>
</cp:coreProperties>
</file>